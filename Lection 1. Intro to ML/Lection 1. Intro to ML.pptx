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86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84" r:id="rId23"/>
    <p:sldId id="285" r:id="rId24"/>
    <p:sldId id="283" r:id="rId25"/>
    <p:sldId id="270" r:id="rId26"/>
    <p:sldId id="271" r:id="rId27"/>
    <p:sldId id="272" r:id="rId28"/>
    <p:sldId id="273" r:id="rId29"/>
    <p:sldId id="274" r:id="rId30"/>
    <p:sldId id="287" r:id="rId31"/>
    <p:sldId id="288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82AB3EF8-1F14-1865-2DF1-3FA2239851A4}">
          <p14:sldIdLst>
            <p14:sldId id="256"/>
            <p14:sldId id="257"/>
          </p14:sldIdLst>
        </p14:section>
        <p14:section name="История и определения" id="{C64611C0-D539-BFA9-2FCA-1BE6D7C193C8}">
          <p14:sldIdLst>
            <p14:sldId id="258"/>
            <p14:sldId id="286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59"/>
            <p14:sldId id="260"/>
            <p14:sldId id="261"/>
          </p14:sldIdLst>
        </p14:section>
        <p14:section name="Основы машинного обучения" id="{F7432719-7F4E-654D-FA64-074656CF02B4}">
          <p14:sldIdLst>
            <p14:sldId id="262"/>
            <p14:sldId id="263"/>
            <p14:sldId id="264"/>
            <p14:sldId id="265"/>
            <p14:sldId id="266"/>
            <p14:sldId id="267"/>
            <p14:sldId id="284"/>
            <p14:sldId id="285"/>
          </p14:sldIdLst>
        </p14:section>
        <p14:section name="Системы ИИ" id="{6887AB03-E55E-5853-76AB-0C3AB5A7725F}">
          <p14:sldIdLst>
            <p14:sldId id="283"/>
          </p14:sldIdLst>
        </p14:section>
        <p14:section name="AGI и будущее" id="{ADE542DA-A619-6C7D-0B5E-A74CB732C06B}">
          <p14:sldIdLst>
            <p14:sldId id="270"/>
            <p14:sldId id="271"/>
            <p14:sldId id="272"/>
            <p14:sldId id="273"/>
          </p14:sldIdLst>
        </p14:section>
        <p14:section name="Итоги" id="{180B5A05-9D5F-D00B-91B2-B0B40D1F1EA0}">
          <p14:sldIdLst>
            <p14:sldId id="274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735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168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9347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93739-2591-332D-30BE-CB4EA6772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E3BB41-9A4C-A035-0ADD-C8FD2E66B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045FB1-D615-4D7B-6443-F3AFA2AB8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15EBA-199A-8863-BB2E-17596B38D6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984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Начнём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1943 </a:t>
            </a:r>
            <a:r>
              <a:rPr dirty="0" err="1"/>
              <a:t>года</a:t>
            </a:r>
            <a:r>
              <a:rPr dirty="0"/>
              <a:t>. </a:t>
            </a:r>
            <a:r>
              <a:rPr dirty="0" err="1"/>
              <a:t>Уоррен</a:t>
            </a:r>
            <a:r>
              <a:rPr dirty="0"/>
              <a:t> </a:t>
            </a:r>
            <a:r>
              <a:rPr dirty="0" err="1"/>
              <a:t>Маккаллок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Уолтер</a:t>
            </a:r>
            <a:r>
              <a:rPr dirty="0"/>
              <a:t> </a:t>
            </a:r>
            <a:r>
              <a:rPr dirty="0" err="1"/>
              <a:t>Питтс</a:t>
            </a:r>
            <a:r>
              <a:rPr dirty="0"/>
              <a:t> </a:t>
            </a:r>
            <a:r>
              <a:rPr dirty="0" err="1"/>
              <a:t>предлагают</a:t>
            </a:r>
            <a:r>
              <a:rPr dirty="0"/>
              <a:t> </a:t>
            </a:r>
            <a:r>
              <a:rPr dirty="0" err="1"/>
              <a:t>математическую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искусственного</a:t>
            </a:r>
            <a:r>
              <a:rPr dirty="0"/>
              <a:t> </a:t>
            </a:r>
            <a:r>
              <a:rPr dirty="0" err="1"/>
              <a:t>нейрона</a:t>
            </a:r>
            <a:r>
              <a:rPr dirty="0"/>
              <a:t>. Это </a:t>
            </a:r>
            <a:r>
              <a:rPr dirty="0" err="1"/>
              <a:t>ещё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программа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компьютер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нашем</a:t>
            </a:r>
            <a:r>
              <a:rPr dirty="0"/>
              <a:t> </a:t>
            </a:r>
            <a:r>
              <a:rPr dirty="0" err="1"/>
              <a:t>понимании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идея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</a:t>
            </a:r>
            <a:r>
              <a:rPr dirty="0" err="1"/>
              <a:t>нейрона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описать</a:t>
            </a:r>
            <a:r>
              <a:rPr dirty="0"/>
              <a:t> </a:t>
            </a:r>
            <a:r>
              <a:rPr dirty="0" err="1"/>
              <a:t>формулами</a:t>
            </a:r>
            <a:r>
              <a:rPr dirty="0"/>
              <a:t>. </a:t>
            </a:r>
            <a:r>
              <a:rPr dirty="0" err="1"/>
              <a:t>Именно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ней</a:t>
            </a:r>
            <a:r>
              <a:rPr dirty="0"/>
              <a:t> </a:t>
            </a:r>
            <a:r>
              <a:rPr dirty="0" err="1"/>
              <a:t>потом</a:t>
            </a:r>
            <a:r>
              <a:rPr dirty="0"/>
              <a:t> </a:t>
            </a:r>
            <a:r>
              <a:rPr dirty="0" err="1"/>
              <a:t>вырастут</a:t>
            </a:r>
            <a:r>
              <a:rPr dirty="0"/>
              <a:t> </a:t>
            </a:r>
            <a:r>
              <a:rPr dirty="0" err="1"/>
              <a:t>нейронные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В</a:t>
            </a:r>
            <a:r>
              <a:rPr dirty="0"/>
              <a:t> 1950 </a:t>
            </a:r>
            <a:r>
              <a:rPr dirty="0" err="1"/>
              <a:t>году</a:t>
            </a:r>
            <a:r>
              <a:rPr dirty="0"/>
              <a:t> </a:t>
            </a:r>
            <a:r>
              <a:rPr dirty="0" err="1"/>
              <a:t>Алан</a:t>
            </a:r>
            <a:r>
              <a:rPr dirty="0"/>
              <a:t> </a:t>
            </a:r>
            <a:r>
              <a:rPr dirty="0" err="1"/>
              <a:t>Тьюринг</a:t>
            </a:r>
            <a:r>
              <a:rPr dirty="0"/>
              <a:t> </a:t>
            </a:r>
            <a:r>
              <a:rPr dirty="0" err="1"/>
              <a:t>публикует</a:t>
            </a:r>
            <a:r>
              <a:rPr dirty="0"/>
              <a:t> </a:t>
            </a:r>
            <a:r>
              <a:rPr dirty="0" err="1"/>
              <a:t>статью</a:t>
            </a:r>
            <a:r>
              <a:rPr dirty="0"/>
              <a:t>,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которой</a:t>
            </a:r>
            <a:r>
              <a:rPr dirty="0"/>
              <a:t> </a:t>
            </a:r>
            <a:r>
              <a:rPr dirty="0" err="1"/>
              <a:t>задаёт</a:t>
            </a:r>
            <a:r>
              <a:rPr dirty="0"/>
              <a:t> </a:t>
            </a:r>
            <a:r>
              <a:rPr dirty="0" err="1"/>
              <a:t>вопрос</a:t>
            </a:r>
            <a:r>
              <a:rPr dirty="0"/>
              <a:t>: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машины</a:t>
            </a:r>
            <a:r>
              <a:rPr dirty="0"/>
              <a:t> </a:t>
            </a:r>
            <a:r>
              <a:rPr dirty="0" err="1"/>
              <a:t>мыслить</a:t>
            </a:r>
            <a:r>
              <a:rPr dirty="0"/>
              <a:t>? </a:t>
            </a:r>
            <a:r>
              <a:rPr dirty="0" err="1"/>
              <a:t>Вместо</a:t>
            </a:r>
            <a:r>
              <a:rPr dirty="0"/>
              <a:t> </a:t>
            </a:r>
            <a:r>
              <a:rPr dirty="0" err="1"/>
              <a:t>того</a:t>
            </a:r>
            <a:r>
              <a:rPr dirty="0"/>
              <a:t>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спорить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«</a:t>
            </a:r>
            <a:r>
              <a:rPr dirty="0" err="1"/>
              <a:t>мышление</a:t>
            </a:r>
            <a:r>
              <a:rPr dirty="0"/>
              <a:t>»,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предлагает</a:t>
            </a:r>
            <a:r>
              <a:rPr dirty="0"/>
              <a:t> </a:t>
            </a:r>
            <a:r>
              <a:rPr dirty="0" err="1"/>
              <a:t>практический</a:t>
            </a:r>
            <a:r>
              <a:rPr dirty="0"/>
              <a:t> </a:t>
            </a:r>
            <a:r>
              <a:rPr dirty="0" err="1"/>
              <a:t>критерий</a:t>
            </a:r>
            <a:r>
              <a:rPr dirty="0"/>
              <a:t>.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переписке</a:t>
            </a:r>
            <a:r>
              <a:rPr dirty="0"/>
              <a:t> </a:t>
            </a:r>
            <a:r>
              <a:rPr dirty="0" err="1"/>
              <a:t>человек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отличить</a:t>
            </a:r>
            <a:r>
              <a:rPr dirty="0"/>
              <a:t> </a:t>
            </a:r>
            <a:r>
              <a:rPr dirty="0" err="1"/>
              <a:t>машину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другого</a:t>
            </a:r>
            <a:r>
              <a:rPr dirty="0"/>
              <a:t> </a:t>
            </a:r>
            <a:r>
              <a:rPr dirty="0" err="1"/>
              <a:t>человека</a:t>
            </a:r>
            <a:r>
              <a:rPr dirty="0"/>
              <a:t>, </a:t>
            </a:r>
            <a:r>
              <a:rPr dirty="0" err="1"/>
              <a:t>значит</a:t>
            </a:r>
            <a:r>
              <a:rPr dirty="0"/>
              <a:t>, </a:t>
            </a:r>
            <a:r>
              <a:rPr dirty="0" err="1"/>
              <a:t>машина</a:t>
            </a:r>
            <a:r>
              <a:rPr dirty="0"/>
              <a:t> </a:t>
            </a:r>
            <a:r>
              <a:rPr dirty="0" err="1"/>
              <a:t>демонстрирует</a:t>
            </a:r>
            <a:r>
              <a:rPr dirty="0"/>
              <a:t> </a:t>
            </a:r>
            <a:r>
              <a:rPr dirty="0" err="1"/>
              <a:t>интеллект</a:t>
            </a:r>
            <a:r>
              <a:rPr dirty="0"/>
              <a:t>. Это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тест</a:t>
            </a:r>
            <a:r>
              <a:rPr dirty="0"/>
              <a:t> </a:t>
            </a:r>
            <a:r>
              <a:rPr dirty="0" err="1"/>
              <a:t>Тьюринга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В</a:t>
            </a:r>
            <a:r>
              <a:rPr dirty="0"/>
              <a:t> 1956 </a:t>
            </a:r>
            <a:r>
              <a:rPr dirty="0" err="1"/>
              <a:t>году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Дартмутском</a:t>
            </a:r>
            <a:r>
              <a:rPr dirty="0"/>
              <a:t> </a:t>
            </a:r>
            <a:r>
              <a:rPr dirty="0" err="1"/>
              <a:t>колледже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США </a:t>
            </a:r>
            <a:r>
              <a:rPr dirty="0" err="1"/>
              <a:t>проходит</a:t>
            </a:r>
            <a:r>
              <a:rPr dirty="0"/>
              <a:t> </a:t>
            </a:r>
            <a:r>
              <a:rPr dirty="0" err="1"/>
              <a:t>конференция</a:t>
            </a:r>
            <a:r>
              <a:rPr dirty="0"/>
              <a:t>,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которой</a:t>
            </a:r>
            <a:r>
              <a:rPr dirty="0"/>
              <a:t> </a:t>
            </a:r>
            <a:r>
              <a:rPr dirty="0" err="1"/>
              <a:t>впервые</a:t>
            </a:r>
            <a:r>
              <a:rPr dirty="0"/>
              <a:t> </a:t>
            </a:r>
            <a:r>
              <a:rPr dirty="0" err="1"/>
              <a:t>официально</a:t>
            </a:r>
            <a:r>
              <a:rPr dirty="0"/>
              <a:t> </a:t>
            </a:r>
            <a:r>
              <a:rPr dirty="0" err="1"/>
              <a:t>звучит</a:t>
            </a:r>
            <a:r>
              <a:rPr dirty="0"/>
              <a:t> </a:t>
            </a:r>
            <a:r>
              <a:rPr dirty="0" err="1"/>
              <a:t>термин</a:t>
            </a:r>
            <a:r>
              <a:rPr dirty="0"/>
              <a:t> «</a:t>
            </a:r>
            <a:r>
              <a:rPr dirty="0" err="1"/>
              <a:t>искусственный</a:t>
            </a:r>
            <a:r>
              <a:rPr dirty="0"/>
              <a:t> </a:t>
            </a:r>
            <a:r>
              <a:rPr dirty="0" err="1"/>
              <a:t>интеллект</a:t>
            </a:r>
            <a:r>
              <a:rPr dirty="0"/>
              <a:t>». </a:t>
            </a:r>
            <a:r>
              <a:rPr dirty="0" err="1"/>
              <a:t>Эту</a:t>
            </a:r>
            <a:r>
              <a:rPr dirty="0"/>
              <a:t> </a:t>
            </a:r>
            <a:r>
              <a:rPr dirty="0" err="1"/>
              <a:t>дату</a:t>
            </a:r>
            <a:r>
              <a:rPr dirty="0"/>
              <a:t> </a:t>
            </a:r>
            <a:r>
              <a:rPr dirty="0" err="1"/>
              <a:t>принято</a:t>
            </a:r>
            <a:r>
              <a:rPr dirty="0"/>
              <a:t> </a:t>
            </a:r>
            <a:r>
              <a:rPr dirty="0" err="1"/>
              <a:t>считать</a:t>
            </a:r>
            <a:r>
              <a:rPr dirty="0"/>
              <a:t> </a:t>
            </a:r>
            <a:r>
              <a:rPr dirty="0" err="1"/>
              <a:t>днём</a:t>
            </a:r>
            <a:r>
              <a:rPr dirty="0"/>
              <a:t> </a:t>
            </a:r>
            <a:r>
              <a:rPr dirty="0" err="1"/>
              <a:t>рождения</a:t>
            </a:r>
            <a:r>
              <a:rPr dirty="0"/>
              <a:t> ИИ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науки</a:t>
            </a:r>
            <a:r>
              <a:rPr dirty="0"/>
              <a:t>. (</a:t>
            </a:r>
            <a:r>
              <a:rPr dirty="0" err="1"/>
              <a:t>Проверь</a:t>
            </a:r>
            <a:r>
              <a:rPr dirty="0"/>
              <a:t> </a:t>
            </a:r>
            <a:r>
              <a:rPr dirty="0" err="1"/>
              <a:t>формулировку</a:t>
            </a:r>
            <a:r>
              <a:rPr dirty="0"/>
              <a:t> </a:t>
            </a:r>
            <a:r>
              <a:rPr dirty="0" err="1"/>
              <a:t>про</a:t>
            </a:r>
            <a:r>
              <a:rPr dirty="0"/>
              <a:t> «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месяца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10 </a:t>
            </a:r>
            <a:r>
              <a:rPr dirty="0" err="1"/>
              <a:t>человек</a:t>
            </a:r>
            <a:r>
              <a:rPr dirty="0"/>
              <a:t>»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тексту</a:t>
            </a:r>
            <a:r>
              <a:rPr dirty="0"/>
              <a:t> </a:t>
            </a:r>
            <a:r>
              <a:rPr dirty="0" err="1"/>
              <a:t>заявки</a:t>
            </a:r>
            <a:r>
              <a:rPr dirty="0"/>
              <a:t> 1955 </a:t>
            </a:r>
            <a:r>
              <a:rPr dirty="0" err="1"/>
              <a:t>года</a:t>
            </a:r>
            <a:r>
              <a:rPr dirty="0"/>
              <a:t>.)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В</a:t>
            </a:r>
            <a:r>
              <a:rPr dirty="0"/>
              <a:t> 1957 </a:t>
            </a:r>
            <a:r>
              <a:rPr dirty="0" err="1"/>
              <a:t>году</a:t>
            </a:r>
            <a:r>
              <a:rPr dirty="0"/>
              <a:t> </a:t>
            </a:r>
            <a:r>
              <a:rPr dirty="0" err="1"/>
              <a:t>Фрэнк</a:t>
            </a:r>
            <a:r>
              <a:rPr dirty="0"/>
              <a:t> </a:t>
            </a:r>
            <a:r>
              <a:rPr dirty="0" err="1"/>
              <a:t>Розенблатт</a:t>
            </a:r>
            <a:r>
              <a:rPr dirty="0"/>
              <a:t> </a:t>
            </a:r>
            <a:r>
              <a:rPr dirty="0" err="1"/>
              <a:t>создаёт</a:t>
            </a:r>
            <a:r>
              <a:rPr dirty="0"/>
              <a:t> </a:t>
            </a:r>
            <a:r>
              <a:rPr dirty="0" err="1"/>
              <a:t>перцептрон</a:t>
            </a:r>
            <a:r>
              <a:rPr dirty="0"/>
              <a:t>, </a:t>
            </a:r>
            <a:r>
              <a:rPr dirty="0" err="1"/>
              <a:t>первую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нейронной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, </a:t>
            </a:r>
            <a:r>
              <a:rPr dirty="0" err="1"/>
              <a:t>которая</a:t>
            </a:r>
            <a:r>
              <a:rPr dirty="0"/>
              <a:t> </a:t>
            </a:r>
            <a:r>
              <a:rPr dirty="0" err="1"/>
              <a:t>умеет</a:t>
            </a:r>
            <a:r>
              <a:rPr dirty="0"/>
              <a:t> </a:t>
            </a:r>
            <a:r>
              <a:rPr dirty="0" err="1"/>
              <a:t>обучаться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примерах</a:t>
            </a:r>
            <a:r>
              <a:rPr dirty="0"/>
              <a:t>. </a:t>
            </a:r>
            <a:r>
              <a:rPr dirty="0" err="1"/>
              <a:t>Тогда</a:t>
            </a:r>
            <a:r>
              <a:rPr dirty="0"/>
              <a:t> </a:t>
            </a:r>
            <a:r>
              <a:rPr dirty="0" err="1"/>
              <a:t>казалось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настоящего</a:t>
            </a:r>
            <a:r>
              <a:rPr dirty="0"/>
              <a:t> ИИ </a:t>
            </a:r>
            <a:r>
              <a:rPr dirty="0" err="1"/>
              <a:t>рукой</a:t>
            </a:r>
            <a:r>
              <a:rPr dirty="0"/>
              <a:t> </a:t>
            </a:r>
            <a:r>
              <a:rPr dirty="0" err="1"/>
              <a:t>подать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дальше</a:t>
            </a:r>
            <a:r>
              <a:rPr dirty="0"/>
              <a:t> </a:t>
            </a:r>
            <a:r>
              <a:rPr dirty="0" err="1"/>
              <a:t>история</a:t>
            </a:r>
            <a:r>
              <a:rPr dirty="0"/>
              <a:t> </a:t>
            </a:r>
            <a:r>
              <a:rPr dirty="0" err="1"/>
              <a:t>пошла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прямой</a:t>
            </a:r>
            <a:r>
              <a:rPr dirty="0"/>
              <a:t>.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конце</a:t>
            </a:r>
            <a:r>
              <a:rPr dirty="0"/>
              <a:t> </a:t>
            </a:r>
            <a:r>
              <a:rPr dirty="0" err="1"/>
              <a:t>шестидесятых</a:t>
            </a:r>
            <a:r>
              <a:rPr dirty="0"/>
              <a:t> </a:t>
            </a:r>
            <a:r>
              <a:rPr dirty="0" err="1"/>
              <a:t>выяснилось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простые</a:t>
            </a:r>
            <a:r>
              <a:rPr dirty="0"/>
              <a:t> </a:t>
            </a:r>
            <a:r>
              <a:rPr dirty="0" err="1"/>
              <a:t>перцептроны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справляются</a:t>
            </a:r>
            <a:r>
              <a:rPr dirty="0"/>
              <a:t> </a:t>
            </a:r>
            <a:r>
              <a:rPr dirty="0" err="1"/>
              <a:t>со</a:t>
            </a:r>
            <a:r>
              <a:rPr dirty="0"/>
              <a:t> </a:t>
            </a:r>
            <a:r>
              <a:rPr dirty="0" err="1"/>
              <a:t>многими</a:t>
            </a:r>
            <a:r>
              <a:rPr dirty="0"/>
              <a:t> </a:t>
            </a:r>
            <a:r>
              <a:rPr dirty="0" err="1"/>
              <a:t>задачами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вычислительных</a:t>
            </a:r>
            <a:r>
              <a:rPr dirty="0"/>
              <a:t> </a:t>
            </a:r>
            <a:r>
              <a:rPr dirty="0" err="1"/>
              <a:t>мощностей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катастрофически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хватало</a:t>
            </a:r>
            <a:r>
              <a:rPr dirty="0"/>
              <a:t>. </a:t>
            </a:r>
            <a:r>
              <a:rPr dirty="0" err="1"/>
              <a:t>Интерес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финансирование</a:t>
            </a:r>
            <a:r>
              <a:rPr dirty="0"/>
              <a:t> </a:t>
            </a:r>
            <a:r>
              <a:rPr dirty="0" err="1"/>
              <a:t>резко</a:t>
            </a:r>
            <a:r>
              <a:rPr dirty="0"/>
              <a:t> </a:t>
            </a:r>
            <a:r>
              <a:rPr dirty="0" err="1"/>
              <a:t>упали</a:t>
            </a:r>
            <a:r>
              <a:rPr dirty="0"/>
              <a:t>. Это </a:t>
            </a:r>
            <a:r>
              <a:rPr dirty="0" err="1"/>
              <a:t>называют</a:t>
            </a:r>
            <a:r>
              <a:rPr dirty="0"/>
              <a:t> </a:t>
            </a:r>
            <a:r>
              <a:rPr dirty="0" err="1"/>
              <a:t>первой</a:t>
            </a:r>
            <a:r>
              <a:rPr dirty="0"/>
              <a:t> «</a:t>
            </a:r>
            <a:r>
              <a:rPr dirty="0" err="1"/>
              <a:t>зимой</a:t>
            </a:r>
            <a:r>
              <a:rPr dirty="0"/>
              <a:t> ИИ».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восьмидесятых</a:t>
            </a:r>
            <a:r>
              <a:rPr dirty="0"/>
              <a:t> </a:t>
            </a:r>
            <a:r>
              <a:rPr dirty="0" err="1"/>
              <a:t>был</a:t>
            </a:r>
            <a:r>
              <a:rPr dirty="0"/>
              <a:t> </a:t>
            </a:r>
            <a:r>
              <a:rPr dirty="0" err="1"/>
              <a:t>новый</a:t>
            </a:r>
            <a:r>
              <a:rPr dirty="0"/>
              <a:t> </a:t>
            </a:r>
            <a:r>
              <a:rPr dirty="0" err="1"/>
              <a:t>подъём</a:t>
            </a:r>
            <a:r>
              <a:rPr dirty="0"/>
              <a:t>, </a:t>
            </a:r>
            <a:r>
              <a:rPr dirty="0" err="1"/>
              <a:t>связанный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экспертными</a:t>
            </a:r>
            <a:r>
              <a:rPr dirty="0"/>
              <a:t> </a:t>
            </a:r>
            <a:r>
              <a:rPr dirty="0" err="1"/>
              <a:t>системами</a:t>
            </a:r>
            <a:r>
              <a:rPr dirty="0"/>
              <a:t>. </a:t>
            </a:r>
            <a:r>
              <a:rPr dirty="0" err="1"/>
              <a:t>Они</a:t>
            </a:r>
            <a:r>
              <a:rPr dirty="0"/>
              <a:t> </a:t>
            </a:r>
            <a:r>
              <a:rPr dirty="0" err="1"/>
              <a:t>оказались</a:t>
            </a:r>
            <a:r>
              <a:rPr dirty="0"/>
              <a:t> </a:t>
            </a:r>
            <a:r>
              <a:rPr dirty="0" err="1"/>
              <a:t>хрупкими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дорогими</a:t>
            </a:r>
            <a:r>
              <a:rPr dirty="0"/>
              <a:t>,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последовала</a:t>
            </a:r>
            <a:r>
              <a:rPr dirty="0"/>
              <a:t> </a:t>
            </a:r>
            <a:r>
              <a:rPr dirty="0" err="1"/>
              <a:t>вторая</a:t>
            </a:r>
            <a:r>
              <a:rPr dirty="0"/>
              <a:t> </a:t>
            </a:r>
            <a:r>
              <a:rPr dirty="0" err="1"/>
              <a:t>зима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В</a:t>
            </a:r>
            <a:r>
              <a:rPr dirty="0"/>
              <a:t> 1997 </a:t>
            </a:r>
            <a:r>
              <a:rPr dirty="0" err="1"/>
              <a:t>году</a:t>
            </a:r>
            <a:r>
              <a:rPr dirty="0"/>
              <a:t> </a:t>
            </a:r>
            <a:r>
              <a:rPr dirty="0" err="1"/>
              <a:t>компьютер</a:t>
            </a:r>
            <a:r>
              <a:rPr dirty="0"/>
              <a:t> Deep Blue </a:t>
            </a:r>
            <a:r>
              <a:rPr dirty="0" err="1"/>
              <a:t>обыграл</a:t>
            </a:r>
            <a:r>
              <a:rPr dirty="0"/>
              <a:t> </a:t>
            </a:r>
            <a:r>
              <a:rPr dirty="0" err="1"/>
              <a:t>чемпиона</a:t>
            </a:r>
            <a:r>
              <a:rPr dirty="0"/>
              <a:t> </a:t>
            </a:r>
            <a:r>
              <a:rPr dirty="0" err="1"/>
              <a:t>мира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шахматам</a:t>
            </a:r>
            <a:r>
              <a:rPr dirty="0"/>
              <a:t> </a:t>
            </a:r>
            <a:r>
              <a:rPr dirty="0" err="1"/>
              <a:t>Гарри</a:t>
            </a:r>
            <a:r>
              <a:rPr dirty="0"/>
              <a:t> </a:t>
            </a:r>
            <a:r>
              <a:rPr dirty="0" err="1"/>
              <a:t>Каспарова</a:t>
            </a:r>
            <a:r>
              <a:rPr dirty="0"/>
              <a:t>. </a:t>
            </a:r>
            <a:r>
              <a:rPr dirty="0" err="1"/>
              <a:t>Обрати</a:t>
            </a:r>
            <a:r>
              <a:rPr dirty="0"/>
              <a:t> </a:t>
            </a:r>
            <a:r>
              <a:rPr dirty="0" err="1"/>
              <a:t>внимание</a:t>
            </a:r>
            <a:r>
              <a:rPr dirty="0"/>
              <a:t>: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ещё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машинное</a:t>
            </a:r>
            <a:r>
              <a:rPr dirty="0"/>
              <a:t> </a:t>
            </a:r>
            <a:r>
              <a:rPr dirty="0" err="1"/>
              <a:t>обучение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перебор</a:t>
            </a:r>
            <a:r>
              <a:rPr dirty="0"/>
              <a:t> </a:t>
            </a:r>
            <a:r>
              <a:rPr dirty="0" err="1"/>
              <a:t>вариантов</a:t>
            </a:r>
            <a:r>
              <a:rPr dirty="0"/>
              <a:t>. [</a:t>
            </a:r>
            <a:r>
              <a:rPr dirty="0" err="1"/>
              <a:t>Вставь</a:t>
            </a:r>
            <a:r>
              <a:rPr dirty="0"/>
              <a:t> </a:t>
            </a:r>
            <a:r>
              <a:rPr dirty="0" err="1"/>
              <a:t>фото</a:t>
            </a:r>
            <a:r>
              <a:rPr dirty="0"/>
              <a:t> </a:t>
            </a:r>
            <a:r>
              <a:rPr dirty="0" err="1"/>
              <a:t>справа</a:t>
            </a:r>
            <a:r>
              <a:rPr dirty="0"/>
              <a:t>: </a:t>
            </a:r>
            <a:r>
              <a:rPr dirty="0" err="1"/>
              <a:t>правый</a:t>
            </a:r>
            <a:r>
              <a:rPr dirty="0"/>
              <a:t> </a:t>
            </a:r>
            <a:r>
              <a:rPr dirty="0" err="1"/>
              <a:t>клик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рамке</a:t>
            </a:r>
            <a:r>
              <a:rPr dirty="0"/>
              <a:t> → </a:t>
            </a:r>
            <a:r>
              <a:rPr dirty="0" err="1"/>
              <a:t>Формат</a:t>
            </a:r>
            <a:r>
              <a:rPr dirty="0"/>
              <a:t> </a:t>
            </a:r>
            <a:r>
              <a:rPr dirty="0" err="1"/>
              <a:t>фигуры</a:t>
            </a:r>
            <a:r>
              <a:rPr dirty="0"/>
              <a:t> → </a:t>
            </a:r>
            <a:r>
              <a:rPr dirty="0" err="1"/>
              <a:t>Заливка</a:t>
            </a:r>
            <a:r>
              <a:rPr dirty="0"/>
              <a:t> → </a:t>
            </a:r>
            <a:r>
              <a:rPr dirty="0" err="1"/>
              <a:t>Рисунок</a:t>
            </a:r>
            <a:r>
              <a:rPr dirty="0"/>
              <a:t>.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забудь</a:t>
            </a:r>
            <a:r>
              <a:rPr dirty="0"/>
              <a:t> </a:t>
            </a:r>
            <a:r>
              <a:rPr dirty="0" err="1"/>
              <a:t>подпись-источник</a:t>
            </a:r>
            <a:r>
              <a:rPr dirty="0"/>
              <a:t>.]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Настоящий</a:t>
            </a:r>
            <a:r>
              <a:rPr dirty="0"/>
              <a:t> </a:t>
            </a:r>
            <a:r>
              <a:rPr dirty="0" err="1"/>
              <a:t>перелом</a:t>
            </a:r>
            <a:r>
              <a:rPr dirty="0"/>
              <a:t> </a:t>
            </a:r>
            <a:r>
              <a:rPr dirty="0" err="1"/>
              <a:t>произошёл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2012 </a:t>
            </a:r>
            <a:r>
              <a:rPr dirty="0" err="1"/>
              <a:t>году</a:t>
            </a:r>
            <a:r>
              <a:rPr dirty="0"/>
              <a:t>. </a:t>
            </a:r>
            <a:r>
              <a:rPr dirty="0" err="1"/>
              <a:t>Нейросеть</a:t>
            </a:r>
            <a:r>
              <a:rPr dirty="0"/>
              <a:t> </a:t>
            </a:r>
            <a:r>
              <a:rPr dirty="0" err="1"/>
              <a:t>AlexNet</a:t>
            </a:r>
            <a:r>
              <a:rPr dirty="0"/>
              <a:t>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огромным</a:t>
            </a:r>
            <a:r>
              <a:rPr dirty="0"/>
              <a:t> </a:t>
            </a:r>
            <a:r>
              <a:rPr dirty="0" err="1"/>
              <a:t>отрывом</a:t>
            </a:r>
            <a:r>
              <a:rPr dirty="0"/>
              <a:t> </a:t>
            </a:r>
            <a:r>
              <a:rPr dirty="0" err="1"/>
              <a:t>выиграла</a:t>
            </a:r>
            <a:r>
              <a:rPr dirty="0"/>
              <a:t> </a:t>
            </a:r>
            <a:r>
              <a:rPr dirty="0" err="1"/>
              <a:t>соревнование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распознаванию</a:t>
            </a:r>
            <a:r>
              <a:rPr dirty="0"/>
              <a:t> </a:t>
            </a:r>
            <a:r>
              <a:rPr dirty="0" err="1"/>
              <a:t>изображений</a:t>
            </a:r>
            <a:r>
              <a:rPr dirty="0"/>
              <a:t> ImageNet. </a:t>
            </a:r>
            <a:r>
              <a:rPr dirty="0" err="1"/>
              <a:t>Причина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сочетании</a:t>
            </a:r>
            <a:r>
              <a:rPr dirty="0"/>
              <a:t> </a:t>
            </a:r>
            <a:r>
              <a:rPr dirty="0" err="1"/>
              <a:t>трёх</a:t>
            </a:r>
            <a:r>
              <a:rPr dirty="0"/>
              <a:t> </a:t>
            </a:r>
            <a:r>
              <a:rPr dirty="0" err="1"/>
              <a:t>вещей</a:t>
            </a:r>
            <a:r>
              <a:rPr dirty="0"/>
              <a:t>: </a:t>
            </a:r>
            <a:r>
              <a:rPr dirty="0" err="1"/>
              <a:t>появились</a:t>
            </a:r>
            <a:r>
              <a:rPr dirty="0"/>
              <a:t> </a:t>
            </a:r>
            <a:r>
              <a:rPr dirty="0" err="1"/>
              <a:t>большие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, </a:t>
            </a:r>
            <a:r>
              <a:rPr dirty="0" err="1"/>
              <a:t>мощные</a:t>
            </a:r>
            <a:r>
              <a:rPr dirty="0"/>
              <a:t> </a:t>
            </a:r>
            <a:r>
              <a:rPr dirty="0" err="1"/>
              <a:t>видеокарты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подходящие</a:t>
            </a:r>
            <a:r>
              <a:rPr dirty="0"/>
              <a:t> </a:t>
            </a:r>
            <a:r>
              <a:rPr dirty="0" err="1"/>
              <a:t>алгоритмы</a:t>
            </a:r>
            <a:r>
              <a:rPr dirty="0"/>
              <a:t>. </a:t>
            </a:r>
            <a:r>
              <a:rPr dirty="0" err="1"/>
              <a:t>С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момента</a:t>
            </a:r>
            <a:r>
              <a:rPr dirty="0"/>
              <a:t> </a:t>
            </a:r>
            <a:r>
              <a:rPr dirty="0" err="1"/>
              <a:t>началась</a:t>
            </a:r>
            <a:r>
              <a:rPr dirty="0"/>
              <a:t> </a:t>
            </a:r>
            <a:r>
              <a:rPr dirty="0" err="1"/>
              <a:t>эпоха</a:t>
            </a:r>
            <a:r>
              <a:rPr dirty="0"/>
              <a:t> </a:t>
            </a:r>
            <a:r>
              <a:rPr dirty="0" err="1"/>
              <a:t>глубокого</a:t>
            </a:r>
            <a:r>
              <a:rPr dirty="0"/>
              <a:t> </a:t>
            </a:r>
            <a:r>
              <a:rPr dirty="0" err="1"/>
              <a:t>обучения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Дальше</a:t>
            </a:r>
            <a:r>
              <a:rPr dirty="0"/>
              <a:t> </a:t>
            </a:r>
            <a:r>
              <a:rPr dirty="0" err="1"/>
              <a:t>события</a:t>
            </a:r>
            <a:r>
              <a:rPr dirty="0"/>
              <a:t> </a:t>
            </a:r>
            <a:r>
              <a:rPr dirty="0" err="1"/>
              <a:t>идут</a:t>
            </a:r>
            <a:r>
              <a:rPr dirty="0"/>
              <a:t> </a:t>
            </a:r>
            <a:r>
              <a:rPr dirty="0" err="1"/>
              <a:t>одно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другим</a:t>
            </a:r>
            <a:r>
              <a:rPr dirty="0"/>
              <a:t>. </a:t>
            </a:r>
            <a:r>
              <a:rPr dirty="0" err="1"/>
              <a:t>В</a:t>
            </a:r>
            <a:r>
              <a:rPr dirty="0"/>
              <a:t> 2016 </a:t>
            </a:r>
            <a:r>
              <a:rPr dirty="0" err="1"/>
              <a:t>году</a:t>
            </a:r>
            <a:r>
              <a:rPr dirty="0"/>
              <a:t> AlphaGo </a:t>
            </a:r>
            <a:r>
              <a:rPr dirty="0" err="1"/>
              <a:t>обыгрывает</a:t>
            </a:r>
            <a:r>
              <a:rPr dirty="0"/>
              <a:t> </a:t>
            </a:r>
            <a:r>
              <a:rPr dirty="0" err="1"/>
              <a:t>чемпиона</a:t>
            </a:r>
            <a:r>
              <a:rPr dirty="0"/>
              <a:t> </a:t>
            </a:r>
            <a:r>
              <a:rPr dirty="0" err="1"/>
              <a:t>мира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го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Седоля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ведь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го</a:t>
            </a:r>
            <a:r>
              <a:rPr dirty="0"/>
              <a:t> </a:t>
            </a:r>
            <a:r>
              <a:rPr dirty="0" err="1"/>
              <a:t>невозможно</a:t>
            </a:r>
            <a:r>
              <a:rPr dirty="0"/>
              <a:t> </a:t>
            </a:r>
            <a:r>
              <a:rPr dirty="0" err="1"/>
              <a:t>просто</a:t>
            </a:r>
            <a:r>
              <a:rPr dirty="0"/>
              <a:t> </a:t>
            </a:r>
            <a:r>
              <a:rPr dirty="0" err="1"/>
              <a:t>перебрать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варианты</a:t>
            </a:r>
            <a:r>
              <a:rPr dirty="0"/>
              <a:t>. </a:t>
            </a:r>
            <a:r>
              <a:rPr dirty="0" err="1"/>
              <a:t>В</a:t>
            </a:r>
            <a:r>
              <a:rPr dirty="0"/>
              <a:t> 2017 </a:t>
            </a:r>
            <a:r>
              <a:rPr dirty="0" err="1"/>
              <a:t>году</a:t>
            </a:r>
            <a:r>
              <a:rPr dirty="0"/>
              <a:t> </a:t>
            </a:r>
            <a:r>
              <a:rPr dirty="0" err="1"/>
              <a:t>появляется</a:t>
            </a:r>
            <a:r>
              <a:rPr dirty="0"/>
              <a:t> </a:t>
            </a:r>
            <a:r>
              <a:rPr dirty="0" err="1"/>
              <a:t>архитектура</a:t>
            </a:r>
            <a:r>
              <a:rPr dirty="0"/>
              <a:t> </a:t>
            </a:r>
            <a:r>
              <a:rPr dirty="0" err="1"/>
              <a:t>трансформер</a:t>
            </a:r>
            <a:r>
              <a:rPr dirty="0"/>
              <a:t>.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конце</a:t>
            </a:r>
            <a:r>
              <a:rPr dirty="0"/>
              <a:t> 2022 </a:t>
            </a:r>
            <a:r>
              <a:rPr dirty="0" err="1"/>
              <a:t>года</a:t>
            </a:r>
            <a:r>
              <a:rPr dirty="0"/>
              <a:t> </a:t>
            </a:r>
            <a:r>
              <a:rPr dirty="0" err="1"/>
              <a:t>выходит</a:t>
            </a:r>
            <a:r>
              <a:rPr dirty="0"/>
              <a:t> ChatGPT, </a:t>
            </a:r>
            <a:r>
              <a:rPr dirty="0" err="1"/>
              <a:t>и</a:t>
            </a:r>
            <a:r>
              <a:rPr dirty="0"/>
              <a:t> ИИ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лабораторий</a:t>
            </a:r>
            <a:r>
              <a:rPr dirty="0"/>
              <a:t> </a:t>
            </a:r>
            <a:r>
              <a:rPr dirty="0" err="1"/>
              <a:t>приходит</a:t>
            </a:r>
            <a:r>
              <a:rPr dirty="0"/>
              <a:t> </a:t>
            </a:r>
            <a:r>
              <a:rPr dirty="0" err="1"/>
              <a:t>к</a:t>
            </a:r>
            <a:r>
              <a:rPr dirty="0"/>
              <a:t> </a:t>
            </a:r>
            <a:r>
              <a:rPr dirty="0" err="1"/>
              <a:t>миллионам</a:t>
            </a:r>
            <a:r>
              <a:rPr dirty="0"/>
              <a:t> </a:t>
            </a:r>
            <a:r>
              <a:rPr dirty="0" err="1"/>
              <a:t>обычных</a:t>
            </a:r>
            <a:r>
              <a:rPr dirty="0"/>
              <a:t> </a:t>
            </a:r>
            <a:r>
              <a:rPr dirty="0" err="1"/>
              <a:t>людей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Во втором типе правильных ответов нет. Мы просто отдаём компьютеру данные и просим найти в них структуру. Классический пример — кластеризация: у магазина миллионы покупателей, и алгоритм сам делит их на группы со схожим поведением, а мы потом смотрим, что за группы получились. Ещё одна задача — поиск аномалий: найти то, что не похоже на остальное, например подозрительные платежи.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Третий тип — обучение с подкреплением. Здесь нет готового набора данных. Есть агент, который действует в среде и получает награду или штраф. Так учат роботов ходить, и так обучали AlphaGo: система играла сама с собой и училась на результатах партий. В ноутбуке у нас простейший пример: коридор из шести клеток, где агент сам понимает, что идти надо вправо.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Модель сама по себе ещё не продукт, вокруг неё строится система. У неё две части. Обучение: собираем и чистим данные, размечаем, обучаем модель (часто на нескольких видеокартах) и проверяем на тесте. Это происходит редко и долго. Эксплуатация: приложение принимает запросы, вызывает модель и возвращает ответ, и всё это должно работать быстро. Мир меняется, а модель учится на прошлом, поэтому качество отслеживают, и когда оно падает, модель переобучают.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BF954-5890-0730-0097-0C92A412D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862911-4C08-607B-533A-ABA72B6E1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55E7A1-0A4A-FF3E-353E-759EC76B4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C4F6A-03FF-0EB5-7CF4-57B9682CDC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200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75C2B-E9DB-CE2F-D993-46C516A5A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B692A-17F9-003B-29CB-4183E677C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AB96D-3ED7-A6B8-A4F6-A2BEEDDD3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CE7E5-5E7D-7B8D-B62F-7309077CBA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499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005840"/>
            <a:ext cx="51206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291840"/>
            <a:ext cx="51206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microsoft.com/office/2007/relationships/hdphoto" Target="../media/hdphoto4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microsoft.com/office/2007/relationships/hdphoto" Target="../media/hdphoto4.wdp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microsoft.com/office/2007/relationships/hdphoto" Target="../media/hdphoto5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microsoft.com/office/2007/relationships/hdphoto" Target="../media/hdphoto6.wdp"/><Relationship Id="rId5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hdphoto" Target="../media/hdphoto7.wdp"/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microsoft.com/office/2007/relationships/hdphoto" Target="../media/hdphoto4.wd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microsoft.com/office/2007/relationships/hdphoto" Target="../media/hdphoto4.wd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microsoft.com/office/2007/relationships/hdphoto" Target="../media/hdphoto8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microsoft.com/office/2007/relationships/hdphoto" Target="../media/hdphoto6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microsoft.com/office/2007/relationships/hdphoto" Target="../media/hdphoto4.wdp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microsoft.com/office/2007/relationships/hdphoto" Target="../media/hdphoto8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microsoft.com/office/2007/relationships/hdphoto" Target="../media/hdphoto9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0.wdp"/><Relationship Id="rId5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1.wdp"/><Relationship Id="rId5" Type="http://schemas.openxmlformats.org/officeDocument/2006/relationships/image" Target="../media/image1.png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2.wd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3.wd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png"/><Relationship Id="rId4" Type="http://schemas.microsoft.com/office/2007/relationships/hdphoto" Target="../media/hdphoto13.wdp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310896" y="1934164"/>
            <a:ext cx="5120640" cy="1355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noProof="0" dirty="0"/>
              <a:t>Введение в машинное </a:t>
            </a:r>
            <a:r>
              <a:rPr lang="ru-RU" sz="4000" b="1" noProof="0" dirty="0">
                <a:solidFill>
                  <a:schemeClr val="bg1"/>
                </a:solidFill>
              </a:rPr>
              <a:t>обучение</a:t>
            </a:r>
            <a:br>
              <a:rPr lang="ru-RU" sz="4000" b="1" noProof="0" dirty="0">
                <a:solidFill>
                  <a:schemeClr val="bg1"/>
                </a:solidFill>
              </a:rPr>
            </a:br>
            <a:br>
              <a:rPr lang="ru-RU" sz="4000" b="1" noProof="0" dirty="0">
                <a:solidFill>
                  <a:schemeClr val="bg1"/>
                </a:solidFill>
              </a:rPr>
            </a:br>
            <a:endParaRPr lang="ru-RU" sz="4000" noProof="0" dirty="0">
              <a:latin typeface="Cambria" panose="02040503050406030204" pitchFamily="18" charset="0"/>
            </a:endParaRPr>
          </a:p>
        </p:txBody>
      </p:sp>
      <p:sp>
        <p:nvSpPr>
          <p:cNvPr id="4" name="line-1"/>
          <p:cNvSpPr/>
          <p:nvPr/>
        </p:nvSpPr>
        <p:spPr>
          <a:xfrm flipV="1">
            <a:off x="6126480" y="1211580"/>
            <a:ext cx="1005840" cy="388620"/>
          </a:xfrm>
          <a:prstGeom prst="line">
            <a:avLst/>
          </a:prstGeom>
          <a:noFill/>
          <a:ln w="9525">
            <a:solidFill>
              <a:schemeClr val="accent6">
                <a:alpha val="35000"/>
              </a:scheme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5" name="line-2"/>
          <p:cNvSpPr/>
          <p:nvPr/>
        </p:nvSpPr>
        <p:spPr>
          <a:xfrm>
            <a:off x="6126480" y="1600200"/>
            <a:ext cx="1005840" cy="388620"/>
          </a:xfrm>
          <a:prstGeom prst="line">
            <a:avLst/>
          </a:prstGeom>
          <a:noFill/>
          <a:ln w="9525">
            <a:solidFill>
              <a:schemeClr val="accent6">
                <a:alpha val="35000"/>
              </a:scheme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" name="line-3"/>
          <p:cNvSpPr/>
          <p:nvPr/>
        </p:nvSpPr>
        <p:spPr>
          <a:xfrm>
            <a:off x="6126480" y="1600200"/>
            <a:ext cx="1005840" cy="1165860"/>
          </a:xfrm>
          <a:prstGeom prst="line">
            <a:avLst/>
          </a:prstGeom>
          <a:noFill/>
          <a:ln w="9525">
            <a:solidFill>
              <a:schemeClr val="accent6">
                <a:alpha val="35000"/>
              </a:scheme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7" name="line-4"/>
          <p:cNvSpPr/>
          <p:nvPr/>
        </p:nvSpPr>
        <p:spPr>
          <a:xfrm>
            <a:off x="6126480" y="1600200"/>
            <a:ext cx="1005840" cy="1943100"/>
          </a:xfrm>
          <a:prstGeom prst="line">
            <a:avLst/>
          </a:prstGeom>
          <a:noFill/>
          <a:ln w="9525">
            <a:solidFill>
              <a:schemeClr val="accent6">
                <a:alpha val="35000"/>
              </a:scheme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" name="line-5"/>
          <p:cNvSpPr/>
          <p:nvPr/>
        </p:nvSpPr>
        <p:spPr>
          <a:xfrm flipV="1">
            <a:off x="6126480" y="1211580"/>
            <a:ext cx="1005840" cy="1165860"/>
          </a:xfrm>
          <a:prstGeom prst="line">
            <a:avLst/>
          </a:prstGeom>
          <a:noFill/>
          <a:ln w="9525">
            <a:solidFill>
              <a:schemeClr val="accent6">
                <a:alpha val="35000"/>
              </a:scheme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9" name="line-6"/>
          <p:cNvSpPr/>
          <p:nvPr/>
        </p:nvSpPr>
        <p:spPr>
          <a:xfrm flipV="1">
            <a:off x="6126480" y="1988820"/>
            <a:ext cx="1005840" cy="388620"/>
          </a:xfrm>
          <a:prstGeom prst="line">
            <a:avLst/>
          </a:prstGeom>
          <a:noFill/>
          <a:ln w="9525">
            <a:solidFill>
              <a:schemeClr val="accent6">
                <a:alpha val="35000"/>
              </a:scheme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0" name="line-7"/>
          <p:cNvSpPr/>
          <p:nvPr/>
        </p:nvSpPr>
        <p:spPr>
          <a:xfrm>
            <a:off x="6126480" y="2377440"/>
            <a:ext cx="1005840" cy="388620"/>
          </a:xfrm>
          <a:prstGeom prst="line">
            <a:avLst/>
          </a:prstGeom>
          <a:noFill/>
          <a:ln w="9525">
            <a:solidFill>
              <a:schemeClr val="accent6">
                <a:alpha val="35000"/>
              </a:scheme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1" name="line-8"/>
          <p:cNvSpPr/>
          <p:nvPr/>
        </p:nvSpPr>
        <p:spPr>
          <a:xfrm>
            <a:off x="6126480" y="2377440"/>
            <a:ext cx="1005840" cy="1165860"/>
          </a:xfrm>
          <a:prstGeom prst="line">
            <a:avLst/>
          </a:prstGeom>
          <a:noFill/>
          <a:ln w="9525">
            <a:solidFill>
              <a:schemeClr val="accent6">
                <a:alpha val="35000"/>
              </a:scheme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line-9"/>
          <p:cNvSpPr/>
          <p:nvPr/>
        </p:nvSpPr>
        <p:spPr>
          <a:xfrm flipV="1">
            <a:off x="6126480" y="1211580"/>
            <a:ext cx="1005840" cy="1943100"/>
          </a:xfrm>
          <a:prstGeom prst="line">
            <a:avLst/>
          </a:prstGeom>
          <a:noFill/>
          <a:ln w="9525">
            <a:solidFill>
              <a:schemeClr val="accent6">
                <a:alpha val="35000"/>
              </a:scheme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3" name="line-10"/>
          <p:cNvSpPr/>
          <p:nvPr/>
        </p:nvSpPr>
        <p:spPr>
          <a:xfrm flipV="1">
            <a:off x="6126480" y="1988820"/>
            <a:ext cx="1005840" cy="1165860"/>
          </a:xfrm>
          <a:prstGeom prst="line">
            <a:avLst/>
          </a:prstGeom>
          <a:noFill/>
          <a:ln w="9525">
            <a:solidFill>
              <a:schemeClr val="accent6">
                <a:alpha val="35000"/>
              </a:scheme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4" name="line-11"/>
          <p:cNvSpPr/>
          <p:nvPr/>
        </p:nvSpPr>
        <p:spPr>
          <a:xfrm flipV="1">
            <a:off x="6126480" y="2766060"/>
            <a:ext cx="1005840" cy="388620"/>
          </a:xfrm>
          <a:prstGeom prst="line">
            <a:avLst/>
          </a:prstGeom>
          <a:noFill/>
          <a:ln w="9525">
            <a:solidFill>
              <a:schemeClr val="accent6">
                <a:alpha val="35000"/>
              </a:scheme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5" name="line-12"/>
          <p:cNvSpPr/>
          <p:nvPr/>
        </p:nvSpPr>
        <p:spPr>
          <a:xfrm>
            <a:off x="6126480" y="3154680"/>
            <a:ext cx="1005840" cy="388620"/>
          </a:xfrm>
          <a:prstGeom prst="line">
            <a:avLst/>
          </a:prstGeom>
          <a:noFill/>
          <a:ln w="9525">
            <a:solidFill>
              <a:schemeClr val="accent6">
                <a:alpha val="35000"/>
              </a:scheme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6" name="line-13"/>
          <p:cNvSpPr/>
          <p:nvPr/>
        </p:nvSpPr>
        <p:spPr>
          <a:xfrm>
            <a:off x="7132320" y="1211580"/>
            <a:ext cx="1005840" cy="777240"/>
          </a:xfrm>
          <a:prstGeom prst="line">
            <a:avLst/>
          </a:prstGeom>
          <a:noFill/>
          <a:ln w="9525">
            <a:solidFill>
              <a:schemeClr val="accent6">
                <a:alpha val="35000"/>
              </a:scheme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7" name="line-14"/>
          <p:cNvSpPr/>
          <p:nvPr/>
        </p:nvSpPr>
        <p:spPr>
          <a:xfrm>
            <a:off x="7132320" y="1211580"/>
            <a:ext cx="1005840" cy="1554480"/>
          </a:xfrm>
          <a:prstGeom prst="line">
            <a:avLst/>
          </a:prstGeom>
          <a:noFill/>
          <a:ln w="9525">
            <a:solidFill>
              <a:schemeClr val="accent6">
                <a:alpha val="35000"/>
              </a:scheme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8" name="line-15"/>
          <p:cNvSpPr/>
          <p:nvPr/>
        </p:nvSpPr>
        <p:spPr>
          <a:xfrm>
            <a:off x="7132320" y="1988820"/>
            <a:ext cx="1005840" cy="0"/>
          </a:xfrm>
          <a:prstGeom prst="line">
            <a:avLst/>
          </a:prstGeom>
          <a:noFill/>
          <a:ln w="9525">
            <a:solidFill>
              <a:schemeClr val="accent6">
                <a:alpha val="35000"/>
              </a:scheme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9" name="line-16"/>
          <p:cNvSpPr/>
          <p:nvPr/>
        </p:nvSpPr>
        <p:spPr>
          <a:xfrm>
            <a:off x="7132320" y="1988820"/>
            <a:ext cx="1005840" cy="777240"/>
          </a:xfrm>
          <a:prstGeom prst="line">
            <a:avLst/>
          </a:prstGeom>
          <a:noFill/>
          <a:ln w="9525">
            <a:solidFill>
              <a:schemeClr val="accent6">
                <a:alpha val="35000"/>
              </a:scheme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0" name="line-17"/>
          <p:cNvSpPr/>
          <p:nvPr/>
        </p:nvSpPr>
        <p:spPr>
          <a:xfrm flipV="1">
            <a:off x="7132320" y="1988820"/>
            <a:ext cx="1005840" cy="777240"/>
          </a:xfrm>
          <a:prstGeom prst="line">
            <a:avLst/>
          </a:prstGeom>
          <a:noFill/>
          <a:ln w="9525">
            <a:solidFill>
              <a:schemeClr val="accent6">
                <a:alpha val="35000"/>
              </a:scheme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1" name="line-18"/>
          <p:cNvSpPr/>
          <p:nvPr/>
        </p:nvSpPr>
        <p:spPr>
          <a:xfrm>
            <a:off x="7132320" y="2766060"/>
            <a:ext cx="1005840" cy="0"/>
          </a:xfrm>
          <a:prstGeom prst="line">
            <a:avLst/>
          </a:prstGeom>
          <a:noFill/>
          <a:ln w="9525">
            <a:solidFill>
              <a:schemeClr val="accent6">
                <a:alpha val="35000"/>
              </a:scheme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2" name="line-19"/>
          <p:cNvSpPr/>
          <p:nvPr/>
        </p:nvSpPr>
        <p:spPr>
          <a:xfrm flipV="1">
            <a:off x="7132320" y="1988820"/>
            <a:ext cx="1005840" cy="1554480"/>
          </a:xfrm>
          <a:prstGeom prst="line">
            <a:avLst/>
          </a:prstGeom>
          <a:noFill/>
          <a:ln w="9525">
            <a:solidFill>
              <a:schemeClr val="accent6">
                <a:alpha val="35000"/>
              </a:scheme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3" name="line-20"/>
          <p:cNvSpPr/>
          <p:nvPr/>
        </p:nvSpPr>
        <p:spPr>
          <a:xfrm flipV="1">
            <a:off x="7132320" y="2766060"/>
            <a:ext cx="1005840" cy="777240"/>
          </a:xfrm>
          <a:prstGeom prst="line">
            <a:avLst/>
          </a:prstGeom>
          <a:noFill/>
          <a:ln w="9525">
            <a:solidFill>
              <a:schemeClr val="accent6">
                <a:alpha val="35000"/>
              </a:schemeClr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4" name="dot-21"/>
          <p:cNvSpPr/>
          <p:nvPr/>
        </p:nvSpPr>
        <p:spPr>
          <a:xfrm>
            <a:off x="5971032" y="1444752"/>
            <a:ext cx="310896" cy="310896"/>
          </a:xfrm>
          <a:prstGeom prst="ellipse">
            <a:avLst/>
          </a:prstGeom>
          <a:solidFill>
            <a:srgbClr val="9AA0B4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25" name="dot-22"/>
          <p:cNvSpPr/>
          <p:nvPr/>
        </p:nvSpPr>
        <p:spPr>
          <a:xfrm>
            <a:off x="5971032" y="2221992"/>
            <a:ext cx="310896" cy="310896"/>
          </a:xfrm>
          <a:prstGeom prst="ellipse">
            <a:avLst/>
          </a:prstGeom>
          <a:solidFill>
            <a:srgbClr val="9AA0B4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26" name="dot-23"/>
          <p:cNvSpPr/>
          <p:nvPr/>
        </p:nvSpPr>
        <p:spPr>
          <a:xfrm>
            <a:off x="5971032" y="2999232"/>
            <a:ext cx="310896" cy="310896"/>
          </a:xfrm>
          <a:prstGeom prst="ellipse">
            <a:avLst/>
          </a:prstGeom>
          <a:solidFill>
            <a:srgbClr val="9AA0B4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27" name="dot-24"/>
          <p:cNvSpPr/>
          <p:nvPr/>
        </p:nvSpPr>
        <p:spPr>
          <a:xfrm>
            <a:off x="6976872" y="1056132"/>
            <a:ext cx="310896" cy="310896"/>
          </a:xfrm>
          <a:prstGeom prst="ellipse">
            <a:avLst/>
          </a:prstGeom>
          <a:solidFill>
            <a:srgbClr val="7B61F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28" name="dot-25"/>
          <p:cNvSpPr/>
          <p:nvPr/>
        </p:nvSpPr>
        <p:spPr>
          <a:xfrm>
            <a:off x="6976872" y="1833372"/>
            <a:ext cx="310896" cy="310896"/>
          </a:xfrm>
          <a:prstGeom prst="ellipse">
            <a:avLst/>
          </a:prstGeom>
          <a:solidFill>
            <a:srgbClr val="7B61F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29" name="dot-26"/>
          <p:cNvSpPr/>
          <p:nvPr/>
        </p:nvSpPr>
        <p:spPr>
          <a:xfrm>
            <a:off x="6976872" y="2610612"/>
            <a:ext cx="310896" cy="310896"/>
          </a:xfrm>
          <a:prstGeom prst="ellipse">
            <a:avLst/>
          </a:prstGeom>
          <a:solidFill>
            <a:srgbClr val="7B61F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30" name="dot-27"/>
          <p:cNvSpPr/>
          <p:nvPr/>
        </p:nvSpPr>
        <p:spPr>
          <a:xfrm>
            <a:off x="6976872" y="3387852"/>
            <a:ext cx="310896" cy="310896"/>
          </a:xfrm>
          <a:prstGeom prst="ellipse">
            <a:avLst/>
          </a:prstGeom>
          <a:solidFill>
            <a:srgbClr val="7B61F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31" name="dot-28"/>
          <p:cNvSpPr/>
          <p:nvPr/>
        </p:nvSpPr>
        <p:spPr>
          <a:xfrm>
            <a:off x="7982712" y="1833372"/>
            <a:ext cx="310896" cy="310896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32" name="dot-29"/>
          <p:cNvSpPr/>
          <p:nvPr/>
        </p:nvSpPr>
        <p:spPr>
          <a:xfrm>
            <a:off x="7982712" y="2610612"/>
            <a:ext cx="310896" cy="310896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4BE5381-93F6-3CC9-7079-4260D05A1A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2E641BD-A2FC-7576-3DFE-BD4C28E558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009" b="81078" l="17579" r="82992">
                        <a14:foregroundMark x1="76889" y1="45380" x2="76889" y2="45380"/>
                        <a14:foregroundMark x1="51972" y1="44719" x2="51972" y2="44719"/>
                        <a14:foregroundMark x1="23768" y1="77558" x2="23768" y2="77558"/>
                        <a14:foregroundMark x1="23494" y1="76403" x2="23494" y2="76403"/>
                        <a14:foregroundMark x1="24261" y1="78218" x2="24261" y2="78218"/>
                        <a14:foregroundMark x1="47809" y1="43894" x2="47809" y2="46535"/>
                        <a14:foregroundMark x1="42278" y1="45050" x2="42278" y2="45050"/>
                        <a14:foregroundMark x1="34064" y1="38449" x2="34064" y2="38449"/>
                        <a14:foregroundMark x1="29299" y1="36469" x2="29299" y2="36469"/>
                        <a14:foregroundMark x1="61665" y1="42739" x2="61665" y2="42739"/>
                        <a14:foregroundMark x1="64951" y1="45050" x2="64951" y2="45050"/>
                        <a14:foregroundMark x1="70153" y1="47525" x2="70153" y2="47525"/>
                        <a14:foregroundMark x1="70263" y1="43564" x2="70263" y2="43564"/>
                        <a14:foregroundMark x1="21030" y1="28713" x2="21030" y2="28713"/>
                        <a14:backgroundMark x1="48193" y1="72442" x2="48193" y2="72442"/>
                        <a14:backgroundMark x1="47700" y1="63531" x2="47700" y2="63531"/>
                        <a14:backgroundMark x1="47809" y1="64191" x2="47809" y2="64191"/>
                        <a14:backgroundMark x1="55860" y1="69142" x2="40197" y2="68977"/>
                        <a14:backgroundMark x1="40197" y1="68977" x2="54984" y2="77723"/>
                        <a14:backgroundMark x1="54984" y1="77723" x2="74151" y2="74257"/>
                        <a14:backgroundMark x1="56024" y1="62871" x2="73220" y2="65347"/>
                        <a14:backgroundMark x1="23604" y1="52145" x2="23604" y2="48020"/>
                        <a14:backgroundMark x1="36857" y1="48020" x2="36857" y2="48020"/>
                        <a14:backgroundMark x1="35926" y1="47525" x2="37514" y2="45875"/>
                        <a14:backgroundMark x1="48741" y1="44373" x2="50000" y2="46205"/>
                        <a14:backgroundMark x1="49288" y1="43234" x2="50767" y2="45050"/>
                        <a14:backgroundMark x1="67798" y1="45710" x2="67798" y2="45710"/>
                        <a14:backgroundMark x1="28642" y1="43234" x2="28642" y2="43234"/>
                      </a14:backgroundRemoval>
                    </a14:imgEffect>
                  </a14:imgLayer>
                </a14:imgProps>
              </a:ext>
            </a:extLst>
          </a:blip>
          <a:srcRect l="9402" r="8832" b="9913"/>
          <a:stretch>
            <a:fillRect/>
          </a:stretch>
        </p:blipFill>
        <p:spPr>
          <a:xfrm>
            <a:off x="0" y="0"/>
            <a:ext cx="2624328" cy="959577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5E85E4E0-1D34-0BD7-6803-E857DFEAEA66}"/>
              </a:ext>
            </a:extLst>
          </p:cNvPr>
          <p:cNvSpPr txBox="1"/>
          <p:nvPr/>
        </p:nvSpPr>
        <p:spPr>
          <a:xfrm>
            <a:off x="6842208" y="4577669"/>
            <a:ext cx="2004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noProof="0" dirty="0">
                <a:solidFill>
                  <a:schemeClr val="bg1"/>
                </a:solidFill>
                <a:latin typeface="Cambria" panose="02040503050406030204" pitchFamily="18" charset="0"/>
              </a:rPr>
              <a:t>13 октября 2026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DFBC7A-637B-B452-893B-C3BAED16EB8A}"/>
              </a:ext>
            </a:extLst>
          </p:cNvPr>
          <p:cNvSpPr txBox="1"/>
          <p:nvPr/>
        </p:nvSpPr>
        <p:spPr>
          <a:xfrm>
            <a:off x="310896" y="4577669"/>
            <a:ext cx="1721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ru-RU" sz="20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anose="02040503050406030204" pitchFamily="18" charset="0"/>
                <a:ea typeface="+mj-ea"/>
                <a:cs typeface="+mj-cs"/>
              </a:rPr>
              <a:t>Лекция 1</a:t>
            </a:r>
            <a:endParaRPr lang="ru-RU" sz="16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600" b="1" noProof="0" dirty="0">
                <a:solidFill>
                  <a:schemeClr val="tx1"/>
                </a:solidFill>
              </a:rPr>
              <a:t>О чём поговорим</a:t>
            </a:r>
            <a:endParaRPr lang="ru-RU" sz="3600" noProof="0" dirty="0"/>
          </a:p>
        </p:txBody>
      </p:sp>
      <p:sp>
        <p:nvSpPr>
          <p:cNvPr id="3" name="card-30"/>
          <p:cNvSpPr/>
          <p:nvPr/>
        </p:nvSpPr>
        <p:spPr>
          <a:xfrm>
            <a:off x="457200" y="1325880"/>
            <a:ext cx="1828800" cy="1554480"/>
          </a:xfrm>
          <a:prstGeom prst="roundRect">
            <a:avLst>
              <a:gd name="adj" fmla="val 7059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4" name="num-bg-31"/>
          <p:cNvSpPr/>
          <p:nvPr/>
        </p:nvSpPr>
        <p:spPr>
          <a:xfrm>
            <a:off x="594360" y="14630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5" name="text-32"/>
          <p:cNvSpPr txBox="1"/>
          <p:nvPr/>
        </p:nvSpPr>
        <p:spPr>
          <a:xfrm>
            <a:off x="59436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600" b="1" noProof="0" dirty="0">
                <a:solidFill>
                  <a:schemeClr val="tx1"/>
                </a:solidFill>
              </a:rPr>
              <a:t>1</a:t>
            </a:r>
            <a:endParaRPr lang="ru-RU" sz="1600" noProof="0" dirty="0"/>
          </a:p>
        </p:txBody>
      </p:sp>
      <p:sp>
        <p:nvSpPr>
          <p:cNvPr id="6" name="text-33"/>
          <p:cNvSpPr txBox="1"/>
          <p:nvPr/>
        </p:nvSpPr>
        <p:spPr>
          <a:xfrm>
            <a:off x="594360" y="19476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500" b="1" noProof="0" dirty="0">
                <a:solidFill>
                  <a:schemeClr val="tx1"/>
                </a:solidFill>
              </a:rPr>
              <a:t>История ИИ</a:t>
            </a:r>
            <a:endParaRPr lang="ru-RU" sz="1500" noProof="0" dirty="0"/>
          </a:p>
        </p:txBody>
      </p:sp>
      <p:sp>
        <p:nvSpPr>
          <p:cNvPr id="7" name="card-34"/>
          <p:cNvSpPr/>
          <p:nvPr/>
        </p:nvSpPr>
        <p:spPr>
          <a:xfrm>
            <a:off x="2590495" y="1325880"/>
            <a:ext cx="1828800" cy="1554480"/>
          </a:xfrm>
          <a:prstGeom prst="roundRect">
            <a:avLst>
              <a:gd name="adj" fmla="val 7059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8" name="num-bg-35"/>
          <p:cNvSpPr/>
          <p:nvPr/>
        </p:nvSpPr>
        <p:spPr>
          <a:xfrm>
            <a:off x="2727655" y="14630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9" name="text-36"/>
          <p:cNvSpPr txBox="1"/>
          <p:nvPr/>
        </p:nvSpPr>
        <p:spPr>
          <a:xfrm>
            <a:off x="2727655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600" b="1" noProof="0" dirty="0">
                <a:solidFill>
                  <a:schemeClr val="tx1"/>
                </a:solidFill>
              </a:rPr>
              <a:t>2</a:t>
            </a:r>
            <a:endParaRPr lang="ru-RU" sz="1600" noProof="0" dirty="0"/>
          </a:p>
        </p:txBody>
      </p:sp>
      <p:sp>
        <p:nvSpPr>
          <p:cNvPr id="10" name="text-37"/>
          <p:cNvSpPr txBox="1"/>
          <p:nvPr/>
        </p:nvSpPr>
        <p:spPr>
          <a:xfrm>
            <a:off x="2727655" y="19476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500" b="1" noProof="0" dirty="0">
                <a:solidFill>
                  <a:schemeClr val="tx1"/>
                </a:solidFill>
              </a:rPr>
              <a:t>ИИ, МО и ГО</a:t>
            </a:r>
            <a:r>
              <a:rPr lang="en-US" sz="1500" b="1" dirty="0"/>
              <a:t>,</a:t>
            </a:r>
          </a:p>
          <a:p>
            <a:pPr marL="0" indent="0">
              <a:buNone/>
            </a:pPr>
            <a:r>
              <a:rPr lang="ru-RU" sz="1100" noProof="0" dirty="0"/>
              <a:t>Сравнение классического</a:t>
            </a:r>
            <a:r>
              <a:rPr lang="ru-RU" sz="1100" dirty="0"/>
              <a:t> программирования и МО</a:t>
            </a:r>
            <a:endParaRPr lang="ru-RU" sz="1100" noProof="0" dirty="0"/>
          </a:p>
        </p:txBody>
      </p:sp>
      <p:sp>
        <p:nvSpPr>
          <p:cNvPr id="11" name="card-38"/>
          <p:cNvSpPr/>
          <p:nvPr/>
        </p:nvSpPr>
        <p:spPr>
          <a:xfrm>
            <a:off x="4723790" y="1325880"/>
            <a:ext cx="1828800" cy="1554480"/>
          </a:xfrm>
          <a:prstGeom prst="roundRect">
            <a:avLst>
              <a:gd name="adj" fmla="val 7059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num-bg-39"/>
          <p:cNvSpPr/>
          <p:nvPr/>
        </p:nvSpPr>
        <p:spPr>
          <a:xfrm>
            <a:off x="4860950" y="14630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3" name="text-40"/>
          <p:cNvSpPr txBox="1"/>
          <p:nvPr/>
        </p:nvSpPr>
        <p:spPr>
          <a:xfrm>
            <a:off x="486095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600" b="1" noProof="0" dirty="0">
                <a:solidFill>
                  <a:schemeClr val="tx1"/>
                </a:solidFill>
              </a:rPr>
              <a:t>3</a:t>
            </a:r>
            <a:endParaRPr lang="ru-RU" sz="1600" noProof="0" dirty="0"/>
          </a:p>
        </p:txBody>
      </p:sp>
      <p:sp>
        <p:nvSpPr>
          <p:cNvPr id="14" name="text-41"/>
          <p:cNvSpPr txBox="1"/>
          <p:nvPr/>
        </p:nvSpPr>
        <p:spPr>
          <a:xfrm>
            <a:off x="4860950" y="19476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500" b="1" noProof="0" dirty="0">
                <a:solidFill>
                  <a:schemeClr val="tx1"/>
                </a:solidFill>
              </a:rPr>
              <a:t>Модель, алгоритм, признак</a:t>
            </a:r>
            <a:endParaRPr lang="ru-RU" sz="1500" noProof="0" dirty="0"/>
          </a:p>
        </p:txBody>
      </p:sp>
      <p:sp>
        <p:nvSpPr>
          <p:cNvPr id="15" name="pill-42"/>
          <p:cNvSpPr/>
          <p:nvPr/>
        </p:nvSpPr>
        <p:spPr>
          <a:xfrm>
            <a:off x="4860950" y="2551176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6" name="text-43"/>
          <p:cNvSpPr txBox="1"/>
          <p:nvPr/>
        </p:nvSpPr>
        <p:spPr>
          <a:xfrm>
            <a:off x="4860950" y="25511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100" b="1" noProof="0" dirty="0">
                <a:solidFill>
                  <a:schemeClr val="tx1"/>
                </a:solidFill>
              </a:rPr>
              <a:t>ноутбук</a:t>
            </a:r>
            <a:endParaRPr lang="ru-RU" sz="1100" noProof="0" dirty="0"/>
          </a:p>
        </p:txBody>
      </p:sp>
      <p:sp>
        <p:nvSpPr>
          <p:cNvPr id="17" name="card-44"/>
          <p:cNvSpPr/>
          <p:nvPr/>
        </p:nvSpPr>
        <p:spPr>
          <a:xfrm>
            <a:off x="6857086" y="1325880"/>
            <a:ext cx="1828800" cy="1554480"/>
          </a:xfrm>
          <a:prstGeom prst="roundRect">
            <a:avLst>
              <a:gd name="adj" fmla="val 7059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8" name="num-bg-45"/>
          <p:cNvSpPr/>
          <p:nvPr/>
        </p:nvSpPr>
        <p:spPr>
          <a:xfrm>
            <a:off x="6994246" y="14630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9" name="text-46"/>
          <p:cNvSpPr txBox="1"/>
          <p:nvPr/>
        </p:nvSpPr>
        <p:spPr>
          <a:xfrm>
            <a:off x="6994246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600" b="1" noProof="0" dirty="0">
                <a:solidFill>
                  <a:schemeClr val="tx1"/>
                </a:solidFill>
              </a:rPr>
              <a:t>4</a:t>
            </a:r>
            <a:endParaRPr lang="ru-RU" sz="1600" noProof="0" dirty="0"/>
          </a:p>
        </p:txBody>
      </p:sp>
      <p:sp>
        <p:nvSpPr>
          <p:cNvPr id="20" name="text-47"/>
          <p:cNvSpPr txBox="1"/>
          <p:nvPr/>
        </p:nvSpPr>
        <p:spPr>
          <a:xfrm>
            <a:off x="6994246" y="19476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500" b="1" noProof="0" dirty="0">
                <a:solidFill>
                  <a:schemeClr val="tx1"/>
                </a:solidFill>
              </a:rPr>
              <a:t>Датасет</a:t>
            </a:r>
            <a:endParaRPr lang="ru-RU" sz="1500" noProof="0" dirty="0"/>
          </a:p>
        </p:txBody>
      </p:sp>
      <p:sp>
        <p:nvSpPr>
          <p:cNvPr id="21" name="pill-48"/>
          <p:cNvSpPr/>
          <p:nvPr/>
        </p:nvSpPr>
        <p:spPr>
          <a:xfrm>
            <a:off x="6994246" y="2551176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22" name="text-49"/>
          <p:cNvSpPr txBox="1"/>
          <p:nvPr/>
        </p:nvSpPr>
        <p:spPr>
          <a:xfrm>
            <a:off x="6994246" y="255117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100" b="1" noProof="0" dirty="0">
                <a:solidFill>
                  <a:schemeClr val="tx1"/>
                </a:solidFill>
              </a:rPr>
              <a:t>ноутбук</a:t>
            </a:r>
            <a:endParaRPr lang="ru-RU" sz="1100" noProof="0" dirty="0"/>
          </a:p>
        </p:txBody>
      </p:sp>
      <p:sp>
        <p:nvSpPr>
          <p:cNvPr id="23" name="card-50"/>
          <p:cNvSpPr/>
          <p:nvPr/>
        </p:nvSpPr>
        <p:spPr>
          <a:xfrm>
            <a:off x="457200" y="3017520"/>
            <a:ext cx="1828800" cy="1554480"/>
          </a:xfrm>
          <a:prstGeom prst="roundRect">
            <a:avLst>
              <a:gd name="adj" fmla="val 7059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24" name="num-bg-51"/>
          <p:cNvSpPr/>
          <p:nvPr/>
        </p:nvSpPr>
        <p:spPr>
          <a:xfrm>
            <a:off x="594360" y="3154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25" name="text-52"/>
          <p:cNvSpPr txBox="1"/>
          <p:nvPr/>
        </p:nvSpPr>
        <p:spPr>
          <a:xfrm>
            <a:off x="59436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600" b="1" noProof="0" dirty="0">
                <a:solidFill>
                  <a:schemeClr val="tx1"/>
                </a:solidFill>
              </a:rPr>
              <a:t>5</a:t>
            </a:r>
            <a:endParaRPr lang="ru-RU" sz="1600" noProof="0" dirty="0"/>
          </a:p>
        </p:txBody>
      </p:sp>
      <p:sp>
        <p:nvSpPr>
          <p:cNvPr id="26" name="text-53"/>
          <p:cNvSpPr txBox="1"/>
          <p:nvPr/>
        </p:nvSpPr>
        <p:spPr>
          <a:xfrm>
            <a:off x="594360" y="36393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500" b="1" noProof="0" dirty="0">
                <a:solidFill>
                  <a:schemeClr val="tx1"/>
                </a:solidFill>
              </a:rPr>
              <a:t>Типы обучения</a:t>
            </a:r>
            <a:endParaRPr lang="ru-RU" sz="1500" noProof="0" dirty="0"/>
          </a:p>
        </p:txBody>
      </p:sp>
      <p:sp>
        <p:nvSpPr>
          <p:cNvPr id="27" name="pill-54"/>
          <p:cNvSpPr/>
          <p:nvPr/>
        </p:nvSpPr>
        <p:spPr>
          <a:xfrm>
            <a:off x="594360" y="4242816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28" name="text-55"/>
          <p:cNvSpPr txBox="1"/>
          <p:nvPr/>
        </p:nvSpPr>
        <p:spPr>
          <a:xfrm>
            <a:off x="594360" y="424281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100" b="1" noProof="0" dirty="0">
                <a:solidFill>
                  <a:schemeClr val="tx1"/>
                </a:solidFill>
              </a:rPr>
              <a:t>ноутбук</a:t>
            </a:r>
            <a:endParaRPr lang="ru-RU" sz="1100" noProof="0" dirty="0"/>
          </a:p>
        </p:txBody>
      </p:sp>
      <p:sp>
        <p:nvSpPr>
          <p:cNvPr id="29" name="card-56"/>
          <p:cNvSpPr/>
          <p:nvPr/>
        </p:nvSpPr>
        <p:spPr>
          <a:xfrm>
            <a:off x="2590495" y="3017520"/>
            <a:ext cx="1828800" cy="1554480"/>
          </a:xfrm>
          <a:prstGeom prst="roundRect">
            <a:avLst>
              <a:gd name="adj" fmla="val 7059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30" name="num-bg-57"/>
          <p:cNvSpPr/>
          <p:nvPr/>
        </p:nvSpPr>
        <p:spPr>
          <a:xfrm>
            <a:off x="2727655" y="3154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31" name="text-58"/>
          <p:cNvSpPr txBox="1"/>
          <p:nvPr/>
        </p:nvSpPr>
        <p:spPr>
          <a:xfrm>
            <a:off x="2727655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600" b="1" noProof="0" dirty="0">
                <a:solidFill>
                  <a:schemeClr val="tx1"/>
                </a:solidFill>
              </a:rPr>
              <a:t>6</a:t>
            </a:r>
            <a:endParaRPr lang="ru-RU" sz="1600" noProof="0" dirty="0"/>
          </a:p>
        </p:txBody>
      </p:sp>
      <p:sp>
        <p:nvSpPr>
          <p:cNvPr id="32" name="text-59"/>
          <p:cNvSpPr txBox="1"/>
          <p:nvPr/>
        </p:nvSpPr>
        <p:spPr>
          <a:xfrm>
            <a:off x="2727655" y="36393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500" b="1" noProof="0" dirty="0">
                <a:solidFill>
                  <a:schemeClr val="tx1"/>
                </a:solidFill>
              </a:rPr>
              <a:t>Системы </a:t>
            </a:r>
            <a:r>
              <a:rPr lang="en-US" sz="1500" b="1" noProof="0" dirty="0">
                <a:solidFill>
                  <a:schemeClr val="tx1"/>
                </a:solidFill>
              </a:rPr>
              <a:t>ML</a:t>
            </a:r>
            <a:endParaRPr lang="ru-RU" sz="1500" noProof="0" dirty="0"/>
          </a:p>
        </p:txBody>
      </p:sp>
      <p:sp>
        <p:nvSpPr>
          <p:cNvPr id="35" name="card-62"/>
          <p:cNvSpPr/>
          <p:nvPr/>
        </p:nvSpPr>
        <p:spPr>
          <a:xfrm>
            <a:off x="4723790" y="3017520"/>
            <a:ext cx="1828800" cy="1554480"/>
          </a:xfrm>
          <a:prstGeom prst="roundRect">
            <a:avLst>
              <a:gd name="adj" fmla="val 7059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36" name="num-bg-63"/>
          <p:cNvSpPr/>
          <p:nvPr/>
        </p:nvSpPr>
        <p:spPr>
          <a:xfrm>
            <a:off x="4860950" y="3154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37" name="text-64"/>
          <p:cNvSpPr txBox="1"/>
          <p:nvPr/>
        </p:nvSpPr>
        <p:spPr>
          <a:xfrm>
            <a:off x="486095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600" b="1" noProof="0" dirty="0">
                <a:solidFill>
                  <a:schemeClr val="tx1"/>
                </a:solidFill>
              </a:rPr>
              <a:t>7</a:t>
            </a:r>
            <a:endParaRPr lang="ru-RU" sz="1600" noProof="0" dirty="0"/>
          </a:p>
        </p:txBody>
      </p:sp>
      <p:sp>
        <p:nvSpPr>
          <p:cNvPr id="38" name="text-65"/>
          <p:cNvSpPr txBox="1"/>
          <p:nvPr/>
        </p:nvSpPr>
        <p:spPr>
          <a:xfrm>
            <a:off x="4860950" y="36393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500" b="1" noProof="0" dirty="0">
                <a:solidFill>
                  <a:schemeClr val="tx1"/>
                </a:solidFill>
              </a:rPr>
              <a:t>AGI и будущее</a:t>
            </a:r>
            <a:endParaRPr lang="ru-RU" sz="1500" noProof="0" dirty="0"/>
          </a:p>
        </p:txBody>
      </p:sp>
      <p:sp>
        <p:nvSpPr>
          <p:cNvPr id="39" name="text-66"/>
          <p:cNvSpPr txBox="1"/>
          <p:nvPr/>
        </p:nvSpPr>
        <p:spPr>
          <a:xfrm>
            <a:off x="6857086" y="3017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noProof="0" dirty="0">
                <a:solidFill>
                  <a:schemeClr val="tx2"/>
                </a:solidFill>
              </a:rPr>
              <a:t>Jupyter Notebook — </a:t>
            </a:r>
            <a:r>
              <a:rPr lang="ru-RU" sz="1400" i="1" noProof="0" dirty="0">
                <a:solidFill>
                  <a:schemeClr val="tx2"/>
                </a:solidFill>
              </a:rPr>
              <a:t>интерактивная среда для живого кода и визуализации данных.</a:t>
            </a:r>
            <a:endParaRPr lang="ru-RU" sz="1400" noProof="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2</a:t>
            </a:fld>
            <a:endParaRPr lang="ru-RU" noProof="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CD67CED-58A4-1E30-54B2-E7D3C7EA5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1599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600" b="1" noProof="0" dirty="0">
                <a:solidFill>
                  <a:schemeClr val="tx1"/>
                </a:solidFill>
              </a:rPr>
              <a:t>Исследование в Дартмутском колледже</a:t>
            </a:r>
            <a:endParaRPr lang="ru-RU" sz="3600" noProof="0" dirty="0"/>
          </a:p>
        </p:txBody>
      </p:sp>
      <p:sp>
        <p:nvSpPr>
          <p:cNvPr id="9" name="card-73"/>
          <p:cNvSpPr/>
          <p:nvPr/>
        </p:nvSpPr>
        <p:spPr>
          <a:xfrm>
            <a:off x="457200" y="1847147"/>
            <a:ext cx="4114800" cy="2059975"/>
          </a:xfrm>
          <a:prstGeom prst="roundRect">
            <a:avLst>
              <a:gd name="adj" fmla="val 7059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0" name="text-74"/>
          <p:cNvSpPr txBox="1"/>
          <p:nvPr/>
        </p:nvSpPr>
        <p:spPr>
          <a:xfrm>
            <a:off x="630936" y="2041746"/>
            <a:ext cx="7111746" cy="1060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400" b="1" noProof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1956</a:t>
            </a:r>
            <a:endParaRPr lang="ru-RU" sz="2400" noProof="0" dirty="0"/>
          </a:p>
        </p:txBody>
      </p:sp>
      <p:sp>
        <p:nvSpPr>
          <p:cNvPr id="11" name="text-75"/>
          <p:cNvSpPr txBox="1"/>
          <p:nvPr/>
        </p:nvSpPr>
        <p:spPr>
          <a:xfrm>
            <a:off x="630936" y="2476460"/>
            <a:ext cx="3749040" cy="1400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600" noProof="0" dirty="0">
                <a:solidFill>
                  <a:schemeClr val="tx1"/>
                </a:solidFill>
              </a:rPr>
              <a:t>Мы предлагаем исследование искусственного интеллекта сроком в 2 месяца с участием 10 человек летом 1956 года в Дартмутском колледже, </a:t>
            </a:r>
            <a:r>
              <a:rPr lang="ru-RU" sz="1600" noProof="0" dirty="0" err="1">
                <a:solidFill>
                  <a:schemeClr val="tx1"/>
                </a:solidFill>
              </a:rPr>
              <a:t>Гановер</a:t>
            </a:r>
            <a:r>
              <a:rPr lang="ru-RU" sz="1600" noProof="0" dirty="0">
                <a:solidFill>
                  <a:schemeClr val="tx1"/>
                </a:solidFill>
              </a:rPr>
              <a:t>, Нью-Гемпшир. </a:t>
            </a:r>
            <a:endParaRPr lang="ru-RU" sz="1600" noProof="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3</a:t>
            </a:fld>
            <a:endParaRPr lang="ru-RU" noProof="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E1D9415-BD5D-62F4-B5F8-259368E90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  <p:sp>
        <p:nvSpPr>
          <p:cNvPr id="30" name="photo-slot">
            <a:extLst>
              <a:ext uri="{FF2B5EF4-FFF2-40B4-BE49-F238E27FC236}">
                <a16:creationId xmlns:a16="http://schemas.microsoft.com/office/drawing/2014/main" id="{98980F47-6791-6190-2994-9B8AF412B9DD}"/>
              </a:ext>
            </a:extLst>
          </p:cNvPr>
          <p:cNvSpPr/>
          <p:nvPr/>
        </p:nvSpPr>
        <p:spPr>
          <a:xfrm>
            <a:off x="4846320" y="1268463"/>
            <a:ext cx="3840480" cy="3217342"/>
          </a:xfrm>
          <a:prstGeom prst="roundRect">
            <a:avLst>
              <a:gd name="adj" fmla="val 3500"/>
            </a:avLst>
          </a:prstGeom>
          <a:blipFill>
            <a:blip r:embed="rId5"/>
            <a:stretch>
              <a:fillRect b="-3737"/>
            </a:stretch>
          </a:blipFill>
          <a:ln w="25400">
            <a:solidFill>
              <a:srgbClr val="7B61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/>
            <a:endParaRPr sz="1100" i="1" dirty="0">
              <a:solidFill>
                <a:srgbClr val="5B607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83EF8-599A-2E01-1012-D83A7441F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8F9A9B4-C2EF-A2B8-F8D5-21DB2526371C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600" b="1" noProof="0" dirty="0">
                <a:solidFill>
                  <a:schemeClr val="tx1"/>
                </a:solidFill>
              </a:rPr>
              <a:t>История ИИ</a:t>
            </a:r>
            <a:endParaRPr lang="ru-RU" sz="3600" noProof="0" dirty="0"/>
          </a:p>
        </p:txBody>
      </p:sp>
      <p:sp>
        <p:nvSpPr>
          <p:cNvPr id="3" name="card-67">
            <a:extLst>
              <a:ext uri="{FF2B5EF4-FFF2-40B4-BE49-F238E27FC236}">
                <a16:creationId xmlns:a16="http://schemas.microsoft.com/office/drawing/2014/main" id="{BB1878D9-9812-D504-969F-F3C48B19E96B}"/>
              </a:ext>
            </a:extLst>
          </p:cNvPr>
          <p:cNvSpPr/>
          <p:nvPr/>
        </p:nvSpPr>
        <p:spPr>
          <a:xfrm>
            <a:off x="457200" y="1234440"/>
            <a:ext cx="1828800" cy="1554480"/>
          </a:xfrm>
          <a:prstGeom prst="roundRect">
            <a:avLst>
              <a:gd name="adj" fmla="val 7059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4" name="text-68">
            <a:extLst>
              <a:ext uri="{FF2B5EF4-FFF2-40B4-BE49-F238E27FC236}">
                <a16:creationId xmlns:a16="http://schemas.microsoft.com/office/drawing/2014/main" id="{1875A949-46D8-DA9E-9191-0D63D24CA941}"/>
              </a:ext>
            </a:extLst>
          </p:cNvPr>
          <p:cNvSpPr txBox="1"/>
          <p:nvPr/>
        </p:nvSpPr>
        <p:spPr>
          <a:xfrm>
            <a:off x="59436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400" b="1" noProof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1943</a:t>
            </a:r>
            <a:endParaRPr lang="ru-RU" sz="2400" noProof="0" dirty="0"/>
          </a:p>
        </p:txBody>
      </p:sp>
      <p:sp>
        <p:nvSpPr>
          <p:cNvPr id="5" name="text-69">
            <a:extLst>
              <a:ext uri="{FF2B5EF4-FFF2-40B4-BE49-F238E27FC236}">
                <a16:creationId xmlns:a16="http://schemas.microsoft.com/office/drawing/2014/main" id="{BAB47030-F171-C4C1-077F-45AEAE2E846E}"/>
              </a:ext>
            </a:extLst>
          </p:cNvPr>
          <p:cNvSpPr txBox="1"/>
          <p:nvPr/>
        </p:nvSpPr>
        <p:spPr>
          <a:xfrm>
            <a:off x="594360" y="1920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noProof="0" dirty="0">
                <a:solidFill>
                  <a:schemeClr val="tx1"/>
                </a:solidFill>
              </a:rPr>
              <a:t>Нейрон </a:t>
            </a:r>
            <a:r>
              <a:rPr lang="ru-RU" sz="1400" noProof="0" dirty="0" err="1">
                <a:solidFill>
                  <a:schemeClr val="tx1"/>
                </a:solidFill>
              </a:rPr>
              <a:t>Маккаллока</a:t>
            </a:r>
            <a:r>
              <a:rPr lang="ru-RU" sz="1400" noProof="0" dirty="0">
                <a:solidFill>
                  <a:schemeClr val="tx1"/>
                </a:solidFill>
              </a:rPr>
              <a:t>–Питтса</a:t>
            </a:r>
            <a:endParaRPr lang="ru-RU" sz="1400" noProof="0" dirty="0"/>
          </a:p>
        </p:txBody>
      </p:sp>
      <p:sp>
        <p:nvSpPr>
          <p:cNvPr id="6" name="card-70">
            <a:extLst>
              <a:ext uri="{FF2B5EF4-FFF2-40B4-BE49-F238E27FC236}">
                <a16:creationId xmlns:a16="http://schemas.microsoft.com/office/drawing/2014/main" id="{D43DA0F2-7343-32CF-9242-8D3DD8E9E976}"/>
              </a:ext>
            </a:extLst>
          </p:cNvPr>
          <p:cNvSpPr/>
          <p:nvPr/>
        </p:nvSpPr>
        <p:spPr>
          <a:xfrm>
            <a:off x="2590495" y="1234440"/>
            <a:ext cx="1828800" cy="1554480"/>
          </a:xfrm>
          <a:prstGeom prst="roundRect">
            <a:avLst>
              <a:gd name="adj" fmla="val 7059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7" name="text-71">
            <a:extLst>
              <a:ext uri="{FF2B5EF4-FFF2-40B4-BE49-F238E27FC236}">
                <a16:creationId xmlns:a16="http://schemas.microsoft.com/office/drawing/2014/main" id="{BFB4CB2F-0192-5266-2873-AA9D7173FCC8}"/>
              </a:ext>
            </a:extLst>
          </p:cNvPr>
          <p:cNvSpPr txBox="1"/>
          <p:nvPr/>
        </p:nvSpPr>
        <p:spPr>
          <a:xfrm>
            <a:off x="2727655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400" b="1" noProof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1950</a:t>
            </a:r>
            <a:endParaRPr lang="ru-RU" sz="2400" noProof="0" dirty="0"/>
          </a:p>
        </p:txBody>
      </p:sp>
      <p:sp>
        <p:nvSpPr>
          <p:cNvPr id="8" name="text-72">
            <a:extLst>
              <a:ext uri="{FF2B5EF4-FFF2-40B4-BE49-F238E27FC236}">
                <a16:creationId xmlns:a16="http://schemas.microsoft.com/office/drawing/2014/main" id="{F6D25E68-43A8-863C-7798-D3D28120B273}"/>
              </a:ext>
            </a:extLst>
          </p:cNvPr>
          <p:cNvSpPr txBox="1"/>
          <p:nvPr/>
        </p:nvSpPr>
        <p:spPr>
          <a:xfrm>
            <a:off x="2727655" y="1920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noProof="0" dirty="0">
                <a:solidFill>
                  <a:schemeClr val="tx1"/>
                </a:solidFill>
              </a:rPr>
              <a:t>Тест Тьюринга</a:t>
            </a:r>
            <a:endParaRPr lang="ru-RU" sz="1400" noProof="0" dirty="0"/>
          </a:p>
        </p:txBody>
      </p:sp>
      <p:sp>
        <p:nvSpPr>
          <p:cNvPr id="9" name="card-73">
            <a:extLst>
              <a:ext uri="{FF2B5EF4-FFF2-40B4-BE49-F238E27FC236}">
                <a16:creationId xmlns:a16="http://schemas.microsoft.com/office/drawing/2014/main" id="{E3F1E7E0-F5A5-3011-0732-6EB26AB19C51}"/>
              </a:ext>
            </a:extLst>
          </p:cNvPr>
          <p:cNvSpPr/>
          <p:nvPr/>
        </p:nvSpPr>
        <p:spPr>
          <a:xfrm>
            <a:off x="4723790" y="1234440"/>
            <a:ext cx="1828800" cy="1554480"/>
          </a:xfrm>
          <a:prstGeom prst="roundRect">
            <a:avLst>
              <a:gd name="adj" fmla="val 7059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0" name="text-74">
            <a:extLst>
              <a:ext uri="{FF2B5EF4-FFF2-40B4-BE49-F238E27FC236}">
                <a16:creationId xmlns:a16="http://schemas.microsoft.com/office/drawing/2014/main" id="{80985273-E5D6-3F52-1A5F-53B8636DC4B5}"/>
              </a:ext>
            </a:extLst>
          </p:cNvPr>
          <p:cNvSpPr txBox="1"/>
          <p:nvPr/>
        </p:nvSpPr>
        <p:spPr>
          <a:xfrm>
            <a:off x="486095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400" b="1" noProof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1956</a:t>
            </a:r>
            <a:endParaRPr lang="ru-RU" sz="2400" noProof="0" dirty="0"/>
          </a:p>
        </p:txBody>
      </p:sp>
      <p:sp>
        <p:nvSpPr>
          <p:cNvPr id="11" name="text-75">
            <a:extLst>
              <a:ext uri="{FF2B5EF4-FFF2-40B4-BE49-F238E27FC236}">
                <a16:creationId xmlns:a16="http://schemas.microsoft.com/office/drawing/2014/main" id="{21A0E29B-9464-BF88-42ED-1FEBAE16BB17}"/>
              </a:ext>
            </a:extLst>
          </p:cNvPr>
          <p:cNvSpPr txBox="1"/>
          <p:nvPr/>
        </p:nvSpPr>
        <p:spPr>
          <a:xfrm>
            <a:off x="4860950" y="1920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noProof="0" dirty="0" err="1">
                <a:solidFill>
                  <a:schemeClr val="tx1"/>
                </a:solidFill>
              </a:rPr>
              <a:t>Дартмут</a:t>
            </a:r>
            <a:r>
              <a:rPr lang="ru-RU" sz="1400" noProof="0" dirty="0">
                <a:solidFill>
                  <a:schemeClr val="tx1"/>
                </a:solidFill>
              </a:rPr>
              <a:t>: термин «ИИ»</a:t>
            </a:r>
            <a:endParaRPr lang="ru-RU" sz="1400" noProof="0" dirty="0"/>
          </a:p>
        </p:txBody>
      </p:sp>
      <p:sp>
        <p:nvSpPr>
          <p:cNvPr id="12" name="card-76">
            <a:extLst>
              <a:ext uri="{FF2B5EF4-FFF2-40B4-BE49-F238E27FC236}">
                <a16:creationId xmlns:a16="http://schemas.microsoft.com/office/drawing/2014/main" id="{5AE2F720-618F-91D8-9F8A-0ECE067B8E82}"/>
              </a:ext>
            </a:extLst>
          </p:cNvPr>
          <p:cNvSpPr/>
          <p:nvPr/>
        </p:nvSpPr>
        <p:spPr>
          <a:xfrm>
            <a:off x="6857086" y="1234440"/>
            <a:ext cx="1828800" cy="1554480"/>
          </a:xfrm>
          <a:prstGeom prst="roundRect">
            <a:avLst>
              <a:gd name="adj" fmla="val 7059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3" name="text-77">
            <a:extLst>
              <a:ext uri="{FF2B5EF4-FFF2-40B4-BE49-F238E27FC236}">
                <a16:creationId xmlns:a16="http://schemas.microsoft.com/office/drawing/2014/main" id="{35427E29-F5F3-97E3-3778-57B2282D9912}"/>
              </a:ext>
            </a:extLst>
          </p:cNvPr>
          <p:cNvSpPr txBox="1"/>
          <p:nvPr/>
        </p:nvSpPr>
        <p:spPr>
          <a:xfrm>
            <a:off x="6994246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400" b="1" noProof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1957</a:t>
            </a:r>
            <a:endParaRPr lang="ru-RU" sz="2400" noProof="0" dirty="0"/>
          </a:p>
        </p:txBody>
      </p:sp>
      <p:sp>
        <p:nvSpPr>
          <p:cNvPr id="14" name="text-78">
            <a:extLst>
              <a:ext uri="{FF2B5EF4-FFF2-40B4-BE49-F238E27FC236}">
                <a16:creationId xmlns:a16="http://schemas.microsoft.com/office/drawing/2014/main" id="{93038638-2457-FC48-91DE-1AF7667D9D19}"/>
              </a:ext>
            </a:extLst>
          </p:cNvPr>
          <p:cNvSpPr txBox="1"/>
          <p:nvPr/>
        </p:nvSpPr>
        <p:spPr>
          <a:xfrm>
            <a:off x="6994246" y="1920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noProof="0" dirty="0">
                <a:solidFill>
                  <a:schemeClr val="tx1"/>
                </a:solidFill>
              </a:rPr>
              <a:t>Перцептрон </a:t>
            </a:r>
            <a:r>
              <a:rPr lang="ru-RU" sz="1400" noProof="0" dirty="0" err="1">
                <a:solidFill>
                  <a:schemeClr val="tx1"/>
                </a:solidFill>
              </a:rPr>
              <a:t>Розенблатта</a:t>
            </a:r>
            <a:endParaRPr lang="ru-RU" sz="1400" noProof="0" dirty="0"/>
          </a:p>
        </p:txBody>
      </p:sp>
      <p:sp>
        <p:nvSpPr>
          <p:cNvPr id="15" name="card-79">
            <a:extLst>
              <a:ext uri="{FF2B5EF4-FFF2-40B4-BE49-F238E27FC236}">
                <a16:creationId xmlns:a16="http://schemas.microsoft.com/office/drawing/2014/main" id="{80310221-8F6D-B8BB-BC33-687E53820AE2}"/>
              </a:ext>
            </a:extLst>
          </p:cNvPr>
          <p:cNvSpPr/>
          <p:nvPr/>
        </p:nvSpPr>
        <p:spPr>
          <a:xfrm>
            <a:off x="457200" y="2971800"/>
            <a:ext cx="1828800" cy="1554480"/>
          </a:xfrm>
          <a:prstGeom prst="roundRect">
            <a:avLst>
              <a:gd name="adj" fmla="val 7059"/>
            </a:avLst>
          </a:prstGeom>
          <a:solidFill>
            <a:srgbClr val="F5A524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6" name="text-80">
            <a:extLst>
              <a:ext uri="{FF2B5EF4-FFF2-40B4-BE49-F238E27FC236}">
                <a16:creationId xmlns:a16="http://schemas.microsoft.com/office/drawing/2014/main" id="{2AAA74EC-B236-66D5-156E-46E143B96B8B}"/>
              </a:ext>
            </a:extLst>
          </p:cNvPr>
          <p:cNvSpPr txBox="1"/>
          <p:nvPr/>
        </p:nvSpPr>
        <p:spPr>
          <a:xfrm>
            <a:off x="59436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400" b="1" noProof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70–90-е</a:t>
            </a:r>
            <a:endParaRPr lang="ru-RU" sz="2400" noProof="0" dirty="0"/>
          </a:p>
        </p:txBody>
      </p:sp>
      <p:sp>
        <p:nvSpPr>
          <p:cNvPr id="17" name="text-81">
            <a:extLst>
              <a:ext uri="{FF2B5EF4-FFF2-40B4-BE49-F238E27FC236}">
                <a16:creationId xmlns:a16="http://schemas.microsoft.com/office/drawing/2014/main" id="{DA13DD08-D455-26AA-DD99-1FC64B8CDFC9}"/>
              </a:ext>
            </a:extLst>
          </p:cNvPr>
          <p:cNvSpPr txBox="1"/>
          <p:nvPr/>
        </p:nvSpPr>
        <p:spPr>
          <a:xfrm>
            <a:off x="594360" y="3657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noProof="0" dirty="0">
                <a:solidFill>
                  <a:schemeClr val="tx1"/>
                </a:solidFill>
              </a:rPr>
              <a:t>Две «зимы ИИ»</a:t>
            </a:r>
            <a:endParaRPr lang="ru-RU" sz="1400" noProof="0" dirty="0"/>
          </a:p>
        </p:txBody>
      </p:sp>
      <p:sp>
        <p:nvSpPr>
          <p:cNvPr id="18" name="card-82">
            <a:extLst>
              <a:ext uri="{FF2B5EF4-FFF2-40B4-BE49-F238E27FC236}">
                <a16:creationId xmlns:a16="http://schemas.microsoft.com/office/drawing/2014/main" id="{BA8793FA-DE34-2D02-6393-7FDF5B360F59}"/>
              </a:ext>
            </a:extLst>
          </p:cNvPr>
          <p:cNvSpPr/>
          <p:nvPr/>
        </p:nvSpPr>
        <p:spPr>
          <a:xfrm>
            <a:off x="2590495" y="2971800"/>
            <a:ext cx="1828800" cy="1554480"/>
          </a:xfrm>
          <a:prstGeom prst="roundRect">
            <a:avLst>
              <a:gd name="adj" fmla="val 7059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9" name="text-83">
            <a:extLst>
              <a:ext uri="{FF2B5EF4-FFF2-40B4-BE49-F238E27FC236}">
                <a16:creationId xmlns:a16="http://schemas.microsoft.com/office/drawing/2014/main" id="{26B5925B-49C6-F0EF-1330-E866FBF3D516}"/>
              </a:ext>
            </a:extLst>
          </p:cNvPr>
          <p:cNvSpPr txBox="1"/>
          <p:nvPr/>
        </p:nvSpPr>
        <p:spPr>
          <a:xfrm>
            <a:off x="2727655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400" b="1" noProof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1997</a:t>
            </a:r>
            <a:endParaRPr lang="ru-RU" sz="2400" noProof="0" dirty="0"/>
          </a:p>
        </p:txBody>
      </p:sp>
      <p:sp>
        <p:nvSpPr>
          <p:cNvPr id="20" name="text-84">
            <a:extLst>
              <a:ext uri="{FF2B5EF4-FFF2-40B4-BE49-F238E27FC236}">
                <a16:creationId xmlns:a16="http://schemas.microsoft.com/office/drawing/2014/main" id="{6BF07C2A-F11B-CAEF-D889-7BA9330A95F3}"/>
              </a:ext>
            </a:extLst>
          </p:cNvPr>
          <p:cNvSpPr txBox="1"/>
          <p:nvPr/>
        </p:nvSpPr>
        <p:spPr>
          <a:xfrm>
            <a:off x="2727655" y="3657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noProof="0" dirty="0">
                <a:solidFill>
                  <a:schemeClr val="tx1"/>
                </a:solidFill>
              </a:rPr>
              <a:t>Deep Blue обыгрывает Каспарова</a:t>
            </a:r>
            <a:endParaRPr lang="ru-RU" sz="1400" noProof="0" dirty="0"/>
          </a:p>
        </p:txBody>
      </p:sp>
      <p:sp>
        <p:nvSpPr>
          <p:cNvPr id="21" name="card-85">
            <a:extLst>
              <a:ext uri="{FF2B5EF4-FFF2-40B4-BE49-F238E27FC236}">
                <a16:creationId xmlns:a16="http://schemas.microsoft.com/office/drawing/2014/main" id="{22207555-79C7-5D0F-A949-4D4DCD4D7541}"/>
              </a:ext>
            </a:extLst>
          </p:cNvPr>
          <p:cNvSpPr/>
          <p:nvPr/>
        </p:nvSpPr>
        <p:spPr>
          <a:xfrm>
            <a:off x="4723790" y="2971800"/>
            <a:ext cx="1828800" cy="1554480"/>
          </a:xfrm>
          <a:prstGeom prst="roundRect">
            <a:avLst>
              <a:gd name="adj" fmla="val 7059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22" name="text-86">
            <a:extLst>
              <a:ext uri="{FF2B5EF4-FFF2-40B4-BE49-F238E27FC236}">
                <a16:creationId xmlns:a16="http://schemas.microsoft.com/office/drawing/2014/main" id="{8BAE6E04-A47B-54CB-F03C-474A08337BF4}"/>
              </a:ext>
            </a:extLst>
          </p:cNvPr>
          <p:cNvSpPr txBox="1"/>
          <p:nvPr/>
        </p:nvSpPr>
        <p:spPr>
          <a:xfrm>
            <a:off x="486095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400" b="1" noProof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2012</a:t>
            </a:r>
            <a:endParaRPr lang="ru-RU" sz="2400" noProof="0" dirty="0"/>
          </a:p>
        </p:txBody>
      </p:sp>
      <p:sp>
        <p:nvSpPr>
          <p:cNvPr id="23" name="text-87">
            <a:extLst>
              <a:ext uri="{FF2B5EF4-FFF2-40B4-BE49-F238E27FC236}">
                <a16:creationId xmlns:a16="http://schemas.microsoft.com/office/drawing/2014/main" id="{1B9DD56D-0AF1-E192-509B-A4FF9DB2E0A8}"/>
              </a:ext>
            </a:extLst>
          </p:cNvPr>
          <p:cNvSpPr txBox="1"/>
          <p:nvPr/>
        </p:nvSpPr>
        <p:spPr>
          <a:xfrm>
            <a:off x="4860950" y="3657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noProof="0" dirty="0" err="1">
                <a:solidFill>
                  <a:schemeClr val="tx1"/>
                </a:solidFill>
              </a:rPr>
              <a:t>AlexNet</a:t>
            </a:r>
            <a:r>
              <a:rPr lang="ru-RU" sz="1400" noProof="0" dirty="0">
                <a:solidFill>
                  <a:schemeClr val="tx1"/>
                </a:solidFill>
              </a:rPr>
              <a:t>: взрыв глубокого обучения</a:t>
            </a:r>
            <a:endParaRPr lang="ru-RU" sz="1400" noProof="0" dirty="0"/>
          </a:p>
        </p:txBody>
      </p:sp>
      <p:sp>
        <p:nvSpPr>
          <p:cNvPr id="24" name="card-88">
            <a:extLst>
              <a:ext uri="{FF2B5EF4-FFF2-40B4-BE49-F238E27FC236}">
                <a16:creationId xmlns:a16="http://schemas.microsoft.com/office/drawing/2014/main" id="{5F9D3442-4DEF-1B0D-F0C5-0EEA4D470795}"/>
              </a:ext>
            </a:extLst>
          </p:cNvPr>
          <p:cNvSpPr/>
          <p:nvPr/>
        </p:nvSpPr>
        <p:spPr>
          <a:xfrm>
            <a:off x="6857086" y="2971800"/>
            <a:ext cx="1828800" cy="1554480"/>
          </a:xfrm>
          <a:prstGeom prst="roundRect">
            <a:avLst>
              <a:gd name="adj" fmla="val 7059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25" name="text-89">
            <a:extLst>
              <a:ext uri="{FF2B5EF4-FFF2-40B4-BE49-F238E27FC236}">
                <a16:creationId xmlns:a16="http://schemas.microsoft.com/office/drawing/2014/main" id="{63C1A373-C9F9-5D8C-30D3-08662C44EFB2}"/>
              </a:ext>
            </a:extLst>
          </p:cNvPr>
          <p:cNvSpPr txBox="1"/>
          <p:nvPr/>
        </p:nvSpPr>
        <p:spPr>
          <a:xfrm>
            <a:off x="6994246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400" b="1" noProof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2016–22</a:t>
            </a:r>
            <a:endParaRPr lang="ru-RU" sz="2400" noProof="0" dirty="0"/>
          </a:p>
        </p:txBody>
      </p:sp>
      <p:sp>
        <p:nvSpPr>
          <p:cNvPr id="26" name="text-90">
            <a:extLst>
              <a:ext uri="{FF2B5EF4-FFF2-40B4-BE49-F238E27FC236}">
                <a16:creationId xmlns:a16="http://schemas.microsoft.com/office/drawing/2014/main" id="{245FD888-6C67-309F-3E80-D09EEDD1B236}"/>
              </a:ext>
            </a:extLst>
          </p:cNvPr>
          <p:cNvSpPr txBox="1"/>
          <p:nvPr/>
        </p:nvSpPr>
        <p:spPr>
          <a:xfrm>
            <a:off x="6994246" y="3657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noProof="0" dirty="0" err="1">
                <a:solidFill>
                  <a:schemeClr val="tx1"/>
                </a:solidFill>
              </a:rPr>
              <a:t>AlphaGo</a:t>
            </a:r>
            <a:r>
              <a:rPr lang="ru-RU" sz="1400" noProof="0" dirty="0">
                <a:solidFill>
                  <a:schemeClr val="tx1"/>
                </a:solidFill>
              </a:rPr>
              <a:t>, трансформер, ChatGPT</a:t>
            </a:r>
            <a:endParaRPr lang="ru-RU" sz="1400" noProof="0" dirty="0"/>
          </a:p>
        </p:txBody>
      </p:sp>
      <p:pic>
        <p:nvPicPr>
          <p:cNvPr id="27" name="icon-91" descr="snowflake">
            <a:extLst>
              <a:ext uri="{FF2B5EF4-FFF2-40B4-BE49-F238E27FC236}">
                <a16:creationId xmlns:a16="http://schemas.microsoft.com/office/drawing/2014/main" id="{E93D6275-2D44-75A5-92C1-646EBB198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108960"/>
            <a:ext cx="320040" cy="320040"/>
          </a:xfrm>
          <a:prstGeom prst="rect">
            <a:avLst/>
          </a:prstGeom>
        </p:spPr>
      </p:pic>
      <p:sp>
        <p:nvSpPr>
          <p:cNvPr id="28" name="Slide Number Placeholder 0">
            <a:extLst>
              <a:ext uri="{FF2B5EF4-FFF2-40B4-BE49-F238E27FC236}">
                <a16:creationId xmlns:a16="http://schemas.microsoft.com/office/drawing/2014/main" id="{EE208D63-1E27-28C7-C3F6-40525F4A873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4</a:t>
            </a:fld>
            <a:endParaRPr lang="ru-RU" noProof="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4ACA32A-115B-C0BE-5AE0-B1B32FF138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557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600" b="1">
                <a:solidFill>
                  <a:schemeClr val="tx1"/>
                </a:solidFill>
              </a:rPr>
              <a:t>Искусственный нейрон</a:t>
            </a:r>
          </a:p>
        </p:txBody>
      </p:sp>
      <p:sp>
        <p:nvSpPr>
          <p:cNvPr id="3" name="year-pill"/>
          <p:cNvSpPr/>
          <p:nvPr/>
        </p:nvSpPr>
        <p:spPr>
          <a:xfrm>
            <a:off x="457200" y="1188720"/>
            <a:ext cx="978408" cy="384048"/>
          </a:xfrm>
          <a:prstGeom prst="roundRect">
            <a:avLst>
              <a:gd name="adj" fmla="val 50000"/>
            </a:avLst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121F"/>
                </a:solidFill>
              </a:rPr>
              <a:t>1943</a:t>
            </a:r>
          </a:p>
        </p:txBody>
      </p:sp>
      <p:sp>
        <p:nvSpPr>
          <p:cNvPr id="4" name="facts"/>
          <p:cNvSpPr txBox="1"/>
          <p:nvPr/>
        </p:nvSpPr>
        <p:spPr>
          <a:xfrm>
            <a:off x="457200" y="18288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chemeClr val="tx1"/>
                </a:solidFill>
              </a:rPr>
              <a:t>Уоррен Маккаллок и Уолтер Питтс описали работу нейрона формулами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chemeClr val="tx1"/>
                </a:solidFill>
              </a:rPr>
              <a:t>Нейрон суммирует входы и «срабатывает», если сумма выше порога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chemeClr val="tx1"/>
                </a:solidFill>
              </a:rPr>
              <a:t>На этой идее позже выросли все нейронные сети</a:t>
            </a:r>
          </a:p>
        </p:txBody>
      </p:sp>
      <p:sp>
        <p:nvSpPr>
          <p:cNvPr id="5" name="visual-card"/>
          <p:cNvSpPr/>
          <p:nvPr/>
        </p:nvSpPr>
        <p:spPr>
          <a:xfrm>
            <a:off x="4846320" y="1188720"/>
            <a:ext cx="3840480" cy="3337560"/>
          </a:xfrm>
          <a:prstGeom prst="roundRect">
            <a:avLst>
              <a:gd name="adj" fmla="val 3500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llustration" descr="neur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280160"/>
            <a:ext cx="3657600" cy="2880360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983480" y="42245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070"/>
                </a:solidFill>
              </a:rPr>
              <a:t>Схема: как устроен нейрон Маккаллока–Питтса</a:t>
            </a:r>
          </a:p>
        </p:txBody>
      </p:sp>
      <p:pic>
        <p:nvPicPr>
          <p:cNvPr id="8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5</a:t>
            </a:fld>
            <a:endParaRPr lang="ru-RU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600" b="1">
                <a:solidFill>
                  <a:schemeClr val="tx1"/>
                </a:solidFill>
              </a:rPr>
              <a:t>Тест Тьюринга</a:t>
            </a:r>
          </a:p>
        </p:txBody>
      </p:sp>
      <p:sp>
        <p:nvSpPr>
          <p:cNvPr id="3" name="year-pill"/>
          <p:cNvSpPr/>
          <p:nvPr/>
        </p:nvSpPr>
        <p:spPr>
          <a:xfrm>
            <a:off x="457200" y="1188720"/>
            <a:ext cx="978408" cy="384048"/>
          </a:xfrm>
          <a:prstGeom prst="roundRect">
            <a:avLst>
              <a:gd name="adj" fmla="val 50000"/>
            </a:avLst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121F"/>
                </a:solidFill>
              </a:rPr>
              <a:t>1950</a:t>
            </a:r>
          </a:p>
        </p:txBody>
      </p:sp>
      <p:sp>
        <p:nvSpPr>
          <p:cNvPr id="4" name="facts"/>
          <p:cNvSpPr txBox="1"/>
          <p:nvPr/>
        </p:nvSpPr>
        <p:spPr>
          <a:xfrm>
            <a:off x="457200" y="18288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chemeClr val="tx1"/>
                </a:solidFill>
              </a:rPr>
              <a:t>Алан Тьюринг публикует статью «Вычислительные машины и разум»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chemeClr val="tx1"/>
                </a:solidFill>
              </a:rPr>
              <a:t>Вместо споров о «мышлении» он предлагает практический критерий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chemeClr val="tx1"/>
                </a:solidFill>
              </a:rPr>
              <a:t>Если по переписке машину не отличить от человека, она демонстрирует интеллект</a:t>
            </a:r>
          </a:p>
        </p:txBody>
      </p:sp>
      <p:sp>
        <p:nvSpPr>
          <p:cNvPr id="5" name="visual-card"/>
          <p:cNvSpPr/>
          <p:nvPr/>
        </p:nvSpPr>
        <p:spPr>
          <a:xfrm>
            <a:off x="4846320" y="1188720"/>
            <a:ext cx="3840480" cy="3337560"/>
          </a:xfrm>
          <a:prstGeom prst="roundRect">
            <a:avLst>
              <a:gd name="adj" fmla="val 3500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llustration" descr="tu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280160"/>
            <a:ext cx="3657600" cy="2880360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983480" y="42245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070"/>
                </a:solidFill>
              </a:rPr>
              <a:t>Схема: игра в имитацию</a:t>
            </a:r>
          </a:p>
        </p:txBody>
      </p:sp>
      <p:pic>
        <p:nvPicPr>
          <p:cNvPr id="8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6</a:t>
            </a:fld>
            <a:endParaRPr lang="ru-RU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600" b="1">
                <a:solidFill>
                  <a:schemeClr val="tx1"/>
                </a:solidFill>
              </a:rPr>
              <a:t>Дартмутская конференция</a:t>
            </a:r>
          </a:p>
        </p:txBody>
      </p:sp>
      <p:sp>
        <p:nvSpPr>
          <p:cNvPr id="3" name="year-pill"/>
          <p:cNvSpPr/>
          <p:nvPr/>
        </p:nvSpPr>
        <p:spPr>
          <a:xfrm>
            <a:off x="457200" y="1188720"/>
            <a:ext cx="978408" cy="384048"/>
          </a:xfrm>
          <a:prstGeom prst="roundRect">
            <a:avLst>
              <a:gd name="adj" fmla="val 50000"/>
            </a:avLst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121F"/>
                </a:solidFill>
              </a:rPr>
              <a:t>1956</a:t>
            </a:r>
          </a:p>
        </p:txBody>
      </p:sp>
      <p:sp>
        <p:nvSpPr>
          <p:cNvPr id="4" name="facts"/>
          <p:cNvSpPr txBox="1"/>
          <p:nvPr/>
        </p:nvSpPr>
        <p:spPr>
          <a:xfrm>
            <a:off x="457200" y="18288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chemeClr val="tx1"/>
                </a:solidFill>
              </a:rPr>
              <a:t>Лето 1956, Дартмутский колледж, США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chemeClr val="tx1"/>
                </a:solidFill>
              </a:rPr>
              <a:t>Организаторы: Маккарти, Минский, Рочестер, Шеннон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chemeClr val="tx1"/>
                </a:solidFill>
              </a:rPr>
              <a:t>Термин «искусственный интеллект» прозвучал именно здесь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chemeClr val="tx1"/>
                </a:solidFill>
              </a:rPr>
              <a:t>Планировали уложиться в два месяца и 10 человек</a:t>
            </a:r>
          </a:p>
        </p:txBody>
      </p:sp>
      <p:sp>
        <p:nvSpPr>
          <p:cNvPr id="5" name="visual-card"/>
          <p:cNvSpPr/>
          <p:nvPr/>
        </p:nvSpPr>
        <p:spPr>
          <a:xfrm>
            <a:off x="4846320" y="1188720"/>
            <a:ext cx="3840480" cy="3337560"/>
          </a:xfrm>
          <a:prstGeom prst="roundRect">
            <a:avLst>
              <a:gd name="adj" fmla="val 3500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llustration" descr="dartmou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280160"/>
            <a:ext cx="3657600" cy="2880360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983480" y="42245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070"/>
                </a:solidFill>
              </a:rPr>
              <a:t>Схема: масштаб первоначального плана</a:t>
            </a:r>
          </a:p>
        </p:txBody>
      </p:sp>
      <p:pic>
        <p:nvPicPr>
          <p:cNvPr id="8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7</a:t>
            </a:fld>
            <a:endParaRPr lang="ru-RU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600" b="1">
                <a:solidFill>
                  <a:schemeClr val="tx1"/>
                </a:solidFill>
              </a:rPr>
              <a:t>Перцептрон</a:t>
            </a:r>
          </a:p>
        </p:txBody>
      </p:sp>
      <p:sp>
        <p:nvSpPr>
          <p:cNvPr id="3" name="year-pill"/>
          <p:cNvSpPr/>
          <p:nvPr/>
        </p:nvSpPr>
        <p:spPr>
          <a:xfrm>
            <a:off x="457200" y="1188720"/>
            <a:ext cx="978408" cy="384048"/>
          </a:xfrm>
          <a:prstGeom prst="roundRect">
            <a:avLst>
              <a:gd name="adj" fmla="val 50000"/>
            </a:avLst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121F"/>
                </a:solidFill>
              </a:rPr>
              <a:t>1957</a:t>
            </a:r>
          </a:p>
        </p:txBody>
      </p:sp>
      <p:sp>
        <p:nvSpPr>
          <p:cNvPr id="4" name="facts"/>
          <p:cNvSpPr txBox="1"/>
          <p:nvPr/>
        </p:nvSpPr>
        <p:spPr>
          <a:xfrm>
            <a:off x="457200" y="18288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chemeClr val="tx1"/>
                </a:solidFill>
              </a:rPr>
              <a:t>Фрэнк Розенблатт создаёт перцептрон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chemeClr val="tx1"/>
                </a:solidFill>
              </a:rPr>
              <a:t>Первая нейросеть, которая учится на примерах: сама подбирает веса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chemeClr val="tx1"/>
                </a:solidFill>
              </a:rPr>
              <a:t>В 1969 Минский и Пейперт показали пределы простого перцептрона</a:t>
            </a:r>
          </a:p>
        </p:txBody>
      </p:sp>
      <p:sp>
        <p:nvSpPr>
          <p:cNvPr id="5" name="visual-card"/>
          <p:cNvSpPr/>
          <p:nvPr/>
        </p:nvSpPr>
        <p:spPr>
          <a:xfrm>
            <a:off x="4846320" y="1188720"/>
            <a:ext cx="3840480" cy="3337560"/>
          </a:xfrm>
          <a:prstGeom prst="roundRect">
            <a:avLst>
              <a:gd name="adj" fmla="val 3500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llustration" descr="perceptr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280160"/>
            <a:ext cx="3657600" cy="2880360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983480" y="42245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070"/>
                </a:solidFill>
              </a:rPr>
              <a:t>Схема: перцептрон подбирает веса связей</a:t>
            </a:r>
          </a:p>
        </p:txBody>
      </p:sp>
      <p:pic>
        <p:nvPicPr>
          <p:cNvPr id="8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8</a:t>
            </a:fld>
            <a:endParaRPr lang="ru-RU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600" b="1">
                <a:solidFill>
                  <a:schemeClr val="tx1"/>
                </a:solidFill>
              </a:rPr>
              <a:t>Две «зимы ИИ»</a:t>
            </a:r>
          </a:p>
        </p:txBody>
      </p:sp>
      <p:sp>
        <p:nvSpPr>
          <p:cNvPr id="3" name="year-pill"/>
          <p:cNvSpPr/>
          <p:nvPr/>
        </p:nvSpPr>
        <p:spPr>
          <a:xfrm>
            <a:off x="457200" y="1188720"/>
            <a:ext cx="1335024" cy="384048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121F"/>
                </a:solidFill>
              </a:rPr>
              <a:t>70–90-е</a:t>
            </a:r>
          </a:p>
        </p:txBody>
      </p:sp>
      <p:sp>
        <p:nvSpPr>
          <p:cNvPr id="4" name="facts"/>
          <p:cNvSpPr txBox="1"/>
          <p:nvPr/>
        </p:nvSpPr>
        <p:spPr>
          <a:xfrm>
            <a:off x="457200" y="18288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chemeClr val="tx1"/>
                </a:solidFill>
              </a:rPr>
              <a:t>Ожидания были завышены, данных и вычислительных мощностей не хватало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chemeClr val="tx1"/>
                </a:solidFill>
              </a:rPr>
              <a:t>1970-е: финансирование резко падает, это первая «зима»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chemeClr val="tx1"/>
                </a:solidFill>
              </a:rPr>
              <a:t>1980-е: подъём экспертных систем с правилами, записанными вручную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chemeClr val="tx1"/>
                </a:solidFill>
              </a:rPr>
              <a:t>Они оказались хрупкими и дорогими, и пришла вторая «зима»</a:t>
            </a:r>
          </a:p>
        </p:txBody>
      </p:sp>
      <p:sp>
        <p:nvSpPr>
          <p:cNvPr id="5" name="visual-card"/>
          <p:cNvSpPr/>
          <p:nvPr/>
        </p:nvSpPr>
        <p:spPr>
          <a:xfrm>
            <a:off x="4846320" y="1188720"/>
            <a:ext cx="3840480" cy="3337560"/>
          </a:xfrm>
          <a:prstGeom prst="roundRect">
            <a:avLst>
              <a:gd name="adj" fmla="val 3500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llustration" descr="win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280160"/>
            <a:ext cx="3657600" cy="2880360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983480" y="42245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070"/>
                </a:solidFill>
              </a:rPr>
              <a:t>Схема-иллюстрация, не реальные данные</a:t>
            </a:r>
          </a:p>
        </p:txBody>
      </p:sp>
      <p:pic>
        <p:nvPicPr>
          <p:cNvPr id="8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9</a:t>
            </a:fld>
            <a:endParaRPr lang="ru-RU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600" b="1" dirty="0">
                <a:solidFill>
                  <a:schemeClr val="tx1"/>
                </a:solidFill>
              </a:rPr>
              <a:t>Deep Blue </a:t>
            </a:r>
            <a:r>
              <a:rPr sz="3600" b="1" dirty="0" err="1">
                <a:solidFill>
                  <a:schemeClr val="tx1"/>
                </a:solidFill>
              </a:rPr>
              <a:t>против</a:t>
            </a:r>
            <a:r>
              <a:rPr sz="3600" b="1" dirty="0">
                <a:solidFill>
                  <a:schemeClr val="tx1"/>
                </a:solidFill>
              </a:rPr>
              <a:t> </a:t>
            </a:r>
            <a:r>
              <a:rPr sz="3600" b="1" dirty="0" err="1">
                <a:solidFill>
                  <a:schemeClr val="tx1"/>
                </a:solidFill>
              </a:rPr>
              <a:t>Каспарова</a:t>
            </a:r>
            <a:endParaRPr sz="3600" b="1" dirty="0">
              <a:solidFill>
                <a:schemeClr val="tx1"/>
              </a:solidFill>
            </a:endParaRPr>
          </a:p>
        </p:txBody>
      </p:sp>
      <p:sp>
        <p:nvSpPr>
          <p:cNvPr id="3" name="year-pill"/>
          <p:cNvSpPr/>
          <p:nvPr/>
        </p:nvSpPr>
        <p:spPr>
          <a:xfrm>
            <a:off x="457200" y="1188720"/>
            <a:ext cx="978408" cy="384048"/>
          </a:xfrm>
          <a:prstGeom prst="roundRect">
            <a:avLst>
              <a:gd name="adj" fmla="val 50000"/>
            </a:avLst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121F"/>
                </a:solidFill>
              </a:rPr>
              <a:t>1997</a:t>
            </a:r>
          </a:p>
        </p:txBody>
      </p:sp>
      <p:sp>
        <p:nvSpPr>
          <p:cNvPr id="4" name="facts"/>
          <p:cNvSpPr txBox="1"/>
          <p:nvPr/>
        </p:nvSpPr>
        <p:spPr>
          <a:xfrm>
            <a:off x="457200" y="18288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600" dirty="0" err="1">
                <a:solidFill>
                  <a:schemeClr val="tx1"/>
                </a:solidFill>
              </a:rPr>
              <a:t>Май</a:t>
            </a:r>
            <a:r>
              <a:rPr sz="1600" dirty="0">
                <a:solidFill>
                  <a:schemeClr val="tx1"/>
                </a:solidFill>
              </a:rPr>
              <a:t> 1997, </a:t>
            </a:r>
            <a:r>
              <a:rPr sz="1600" dirty="0" err="1">
                <a:solidFill>
                  <a:schemeClr val="tx1"/>
                </a:solidFill>
              </a:rPr>
              <a:t>Нью-Йорк</a:t>
            </a:r>
            <a:r>
              <a:rPr sz="1600" dirty="0">
                <a:solidFill>
                  <a:schemeClr val="tx1"/>
                </a:solidFill>
              </a:rPr>
              <a:t>, </a:t>
            </a:r>
            <a:r>
              <a:rPr sz="1600" dirty="0" err="1">
                <a:solidFill>
                  <a:schemeClr val="tx1"/>
                </a:solidFill>
              </a:rPr>
              <a:t>матч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из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шести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партий</a:t>
            </a:r>
            <a:endParaRPr sz="1600" dirty="0">
              <a:solidFill>
                <a:schemeClr val="tx1"/>
              </a:solidFill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 dirty="0" err="1">
                <a:solidFill>
                  <a:schemeClr val="tx1"/>
                </a:solidFill>
              </a:rPr>
              <a:t>Компьютер</a:t>
            </a:r>
            <a:r>
              <a:rPr sz="1600" dirty="0">
                <a:solidFill>
                  <a:schemeClr val="tx1"/>
                </a:solidFill>
              </a:rPr>
              <a:t> IBM Deep Blue </a:t>
            </a:r>
            <a:r>
              <a:rPr sz="1600" dirty="0" err="1">
                <a:solidFill>
                  <a:schemeClr val="tx1"/>
                </a:solidFill>
              </a:rPr>
              <a:t>обыграл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чемпиона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мира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Гарри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Каспарова</a:t>
            </a:r>
            <a:r>
              <a:rPr sz="1600" dirty="0">
                <a:solidFill>
                  <a:schemeClr val="tx1"/>
                </a:solidFill>
              </a:rPr>
              <a:t>: 3½ : 2½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 dirty="0">
                <a:solidFill>
                  <a:schemeClr val="tx1"/>
                </a:solidFill>
              </a:rPr>
              <a:t>Это </a:t>
            </a:r>
            <a:r>
              <a:rPr sz="1600" dirty="0" err="1">
                <a:solidFill>
                  <a:schemeClr val="tx1"/>
                </a:solidFill>
              </a:rPr>
              <a:t>не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обучение</a:t>
            </a:r>
            <a:r>
              <a:rPr sz="1600" dirty="0">
                <a:solidFill>
                  <a:schemeClr val="tx1"/>
                </a:solidFill>
              </a:rPr>
              <a:t>, </a:t>
            </a:r>
            <a:r>
              <a:rPr sz="1600" dirty="0" err="1">
                <a:solidFill>
                  <a:schemeClr val="tx1"/>
                </a:solidFill>
              </a:rPr>
              <a:t>а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в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основном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быстрый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перебор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вариантов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и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оценка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позиций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5" name="photo-slot"/>
          <p:cNvSpPr/>
          <p:nvPr/>
        </p:nvSpPr>
        <p:spPr>
          <a:xfrm>
            <a:off x="4846320" y="1188720"/>
            <a:ext cx="3840480" cy="3337560"/>
          </a:xfrm>
          <a:prstGeom prst="roundRect">
            <a:avLst>
              <a:gd name="adj" fmla="val 350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5400">
            <a:solidFill>
              <a:srgbClr val="7B61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/>
            <a:endParaRPr sz="1100" i="1" dirty="0">
              <a:solidFill>
                <a:srgbClr val="5B6070"/>
              </a:solidFill>
            </a:endParaRPr>
          </a:p>
        </p:txBody>
      </p:sp>
      <p:pic>
        <p:nvPicPr>
          <p:cNvPr id="6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10</a:t>
            </a:fld>
            <a:endParaRPr lang="ru-RU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600" b="1">
                <a:solidFill>
                  <a:schemeClr val="tx1"/>
                </a:solidFill>
              </a:rPr>
              <a:t>AlexNet и ImageNet</a:t>
            </a:r>
          </a:p>
        </p:txBody>
      </p:sp>
      <p:sp>
        <p:nvSpPr>
          <p:cNvPr id="3" name="year-pill"/>
          <p:cNvSpPr/>
          <p:nvPr/>
        </p:nvSpPr>
        <p:spPr>
          <a:xfrm>
            <a:off x="457200" y="1188720"/>
            <a:ext cx="978408" cy="384048"/>
          </a:xfrm>
          <a:prstGeom prst="roundRect">
            <a:avLst>
              <a:gd name="adj" fmla="val 50000"/>
            </a:avLst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121F"/>
                </a:solidFill>
              </a:rPr>
              <a:t>2012</a:t>
            </a:r>
          </a:p>
        </p:txBody>
      </p:sp>
      <p:sp>
        <p:nvSpPr>
          <p:cNvPr id="4" name="facts"/>
          <p:cNvSpPr txBox="1"/>
          <p:nvPr/>
        </p:nvSpPr>
        <p:spPr>
          <a:xfrm>
            <a:off x="457200" y="18288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chemeClr val="tx1"/>
                </a:solidFill>
              </a:rPr>
              <a:t>Нейросеть AlexNet (Крижевский, Суцкевер, Хинтон) выигрывает конкурс ImageNet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chemeClr val="tx1"/>
                </a:solidFill>
              </a:rPr>
              <a:t>Ошибка 15,3% против 26,2% у ближайшего конкурента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chemeClr val="tx1"/>
                </a:solidFill>
              </a:rPr>
              <a:t>Секрет: большие данные, мощные видеокарты и подходящие алгоритмы</a:t>
            </a:r>
          </a:p>
        </p:txBody>
      </p:sp>
      <p:sp>
        <p:nvSpPr>
          <p:cNvPr id="5" name="visual-card"/>
          <p:cNvSpPr/>
          <p:nvPr/>
        </p:nvSpPr>
        <p:spPr>
          <a:xfrm>
            <a:off x="4846320" y="1188720"/>
            <a:ext cx="3840480" cy="3337560"/>
          </a:xfrm>
          <a:prstGeom prst="roundRect">
            <a:avLst>
              <a:gd name="adj" fmla="val 3500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llustration" descr="alex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280160"/>
            <a:ext cx="3657600" cy="2880360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983480" y="42245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070"/>
                </a:solidFill>
              </a:rPr>
              <a:t>Схема: ошибка распознавания на ImageNet 2012</a:t>
            </a:r>
          </a:p>
        </p:txBody>
      </p:sp>
      <p:pic>
        <p:nvPicPr>
          <p:cNvPr id="8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11</a:t>
            </a:fld>
            <a:endParaRPr lang="ru-RU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600" b="1">
                <a:solidFill>
                  <a:schemeClr val="tx1"/>
                </a:solidFill>
              </a:rPr>
              <a:t>От AlphaGo до ChatGPT</a:t>
            </a:r>
          </a:p>
        </p:txBody>
      </p:sp>
      <p:sp>
        <p:nvSpPr>
          <p:cNvPr id="3" name="year-pill"/>
          <p:cNvSpPr/>
          <p:nvPr/>
        </p:nvSpPr>
        <p:spPr>
          <a:xfrm>
            <a:off x="457200" y="1188720"/>
            <a:ext cx="1335024" cy="384048"/>
          </a:xfrm>
          <a:prstGeom prst="roundRect">
            <a:avLst>
              <a:gd name="adj" fmla="val 50000"/>
            </a:avLst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14121F"/>
                </a:solidFill>
              </a:rPr>
              <a:t>2016–22</a:t>
            </a:r>
          </a:p>
        </p:txBody>
      </p:sp>
      <p:sp>
        <p:nvSpPr>
          <p:cNvPr id="4" name="facts"/>
          <p:cNvSpPr txBox="1"/>
          <p:nvPr/>
        </p:nvSpPr>
        <p:spPr>
          <a:xfrm>
            <a:off x="457200" y="18288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chemeClr val="tx1"/>
                </a:solidFill>
              </a:rPr>
              <a:t>2016: AlphaGo обыгрывает чемпиона мира по го Ли Седоля со счётом 4:1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chemeClr val="tx1"/>
                </a:solidFill>
              </a:rPr>
              <a:t>2017: появляется архитектура трансформер, основа современных языковых моделей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>
                <a:solidFill>
                  <a:schemeClr val="tx1"/>
                </a:solidFill>
              </a:rPr>
              <a:t>Конец 2022: выходит ChatGPT, и ИИ приходит к миллионам обычных людей</a:t>
            </a:r>
          </a:p>
        </p:txBody>
      </p:sp>
      <p:sp>
        <p:nvSpPr>
          <p:cNvPr id="5" name="visual-card"/>
          <p:cNvSpPr/>
          <p:nvPr/>
        </p:nvSpPr>
        <p:spPr>
          <a:xfrm>
            <a:off x="4846320" y="1188720"/>
            <a:ext cx="3840480" cy="3337560"/>
          </a:xfrm>
          <a:prstGeom prst="roundRect">
            <a:avLst>
              <a:gd name="adj" fmla="val 3500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llustration" descr="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280160"/>
            <a:ext cx="3657600" cy="2880360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983480" y="42245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B6070"/>
                </a:solidFill>
              </a:rPr>
              <a:t>Иллюстрация: партия в го</a:t>
            </a:r>
          </a:p>
        </p:txBody>
      </p:sp>
      <p:pic>
        <p:nvPicPr>
          <p:cNvPr id="8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12</a:t>
            </a:fld>
            <a:endParaRPr lang="ru-RU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600" b="1" noProof="0" dirty="0">
                <a:solidFill>
                  <a:schemeClr val="tx1"/>
                </a:solidFill>
              </a:rPr>
              <a:t>ИИ, МО и глубокое обучение</a:t>
            </a:r>
            <a:endParaRPr lang="ru-RU" sz="3600" noProof="0" dirty="0"/>
          </a:p>
        </p:txBody>
      </p:sp>
      <p:sp>
        <p:nvSpPr>
          <p:cNvPr id="3" name="circle-ai-92"/>
          <p:cNvSpPr/>
          <p:nvPr/>
        </p:nvSpPr>
        <p:spPr>
          <a:xfrm>
            <a:off x="457200" y="1234440"/>
            <a:ext cx="3383280" cy="3383280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4" name="circle-ml-93"/>
          <p:cNvSpPr/>
          <p:nvPr/>
        </p:nvSpPr>
        <p:spPr>
          <a:xfrm>
            <a:off x="914400" y="2148840"/>
            <a:ext cx="2468880" cy="2468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5" name="circle-dl-94"/>
          <p:cNvSpPr/>
          <p:nvPr/>
        </p:nvSpPr>
        <p:spPr>
          <a:xfrm>
            <a:off x="1277112" y="2898648"/>
            <a:ext cx="1700784" cy="1719072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6" name="text-95"/>
          <p:cNvSpPr txBox="1"/>
          <p:nvPr/>
        </p:nvSpPr>
        <p:spPr>
          <a:xfrm>
            <a:off x="457200" y="1463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2200" b="1" noProof="0" dirty="0">
                <a:solidFill>
                  <a:schemeClr val="tx1"/>
                </a:solidFill>
              </a:rPr>
              <a:t>ИИ</a:t>
            </a:r>
            <a:endParaRPr lang="ru-RU" sz="2200" noProof="0" dirty="0"/>
          </a:p>
        </p:txBody>
      </p:sp>
      <p:sp>
        <p:nvSpPr>
          <p:cNvPr id="7" name="text-96"/>
          <p:cNvSpPr txBox="1"/>
          <p:nvPr/>
        </p:nvSpPr>
        <p:spPr>
          <a:xfrm>
            <a:off x="914400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2200" b="1" noProof="0" dirty="0">
                <a:solidFill>
                  <a:schemeClr val="tx1"/>
                </a:solidFill>
              </a:rPr>
              <a:t>МО</a:t>
            </a:r>
            <a:endParaRPr lang="ru-RU" sz="2200" noProof="0" dirty="0"/>
          </a:p>
        </p:txBody>
      </p:sp>
      <p:sp>
        <p:nvSpPr>
          <p:cNvPr id="8" name="text-97"/>
          <p:cNvSpPr txBox="1"/>
          <p:nvPr/>
        </p:nvSpPr>
        <p:spPr>
          <a:xfrm>
            <a:off x="1350264" y="296265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200" b="1" noProof="0" dirty="0">
                <a:solidFill>
                  <a:schemeClr val="bg1"/>
                </a:solidFill>
              </a:rPr>
              <a:t>ГО</a:t>
            </a:r>
            <a:endParaRPr lang="ru-RU" sz="2200" noProof="0" dirty="0"/>
          </a:p>
        </p:txBody>
      </p:sp>
      <p:sp>
        <p:nvSpPr>
          <p:cNvPr id="9" name="marker-98"/>
          <p:cNvSpPr/>
          <p:nvPr/>
        </p:nvSpPr>
        <p:spPr>
          <a:xfrm>
            <a:off x="4480560" y="1352454"/>
            <a:ext cx="274320" cy="274320"/>
          </a:xfrm>
          <a:prstGeom prst="ellipse">
            <a:avLst/>
          </a:prstGeom>
          <a:solidFill>
            <a:srgbClr val="9AA0B4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0" name="text-99"/>
          <p:cNvSpPr txBox="1"/>
          <p:nvPr/>
        </p:nvSpPr>
        <p:spPr>
          <a:xfrm>
            <a:off x="4937760" y="130673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800" b="1" noProof="0" dirty="0">
                <a:solidFill>
                  <a:schemeClr val="tx1"/>
                </a:solidFill>
              </a:rPr>
              <a:t>Искусственный интеллект</a:t>
            </a:r>
            <a:endParaRPr lang="ru-RU" sz="1800" noProof="0" dirty="0"/>
          </a:p>
        </p:txBody>
      </p:sp>
      <p:sp>
        <p:nvSpPr>
          <p:cNvPr id="11" name="text-100"/>
          <p:cNvSpPr txBox="1"/>
          <p:nvPr/>
        </p:nvSpPr>
        <p:spPr>
          <a:xfrm>
            <a:off x="4937760" y="169078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noProof="0" dirty="0">
                <a:solidFill>
                  <a:schemeClr val="tx2"/>
                </a:solidFill>
              </a:rPr>
              <a:t>Все задачи, в которых компьютер принимает решения</a:t>
            </a:r>
            <a:endParaRPr lang="ru-RU" sz="1400" noProof="0" dirty="0"/>
          </a:p>
        </p:txBody>
      </p:sp>
      <p:sp>
        <p:nvSpPr>
          <p:cNvPr id="12" name="marker-101"/>
          <p:cNvSpPr/>
          <p:nvPr/>
        </p:nvSpPr>
        <p:spPr>
          <a:xfrm>
            <a:off x="4480560" y="2211990"/>
            <a:ext cx="274320" cy="274320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3" name="text-102"/>
          <p:cNvSpPr txBox="1"/>
          <p:nvPr/>
        </p:nvSpPr>
        <p:spPr>
          <a:xfrm>
            <a:off x="4937760" y="216627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800" b="1" noProof="0" dirty="0">
                <a:solidFill>
                  <a:schemeClr val="tx1"/>
                </a:solidFill>
              </a:rPr>
              <a:t>Машинное обучение, ML</a:t>
            </a:r>
            <a:endParaRPr lang="ru-RU" sz="1800" noProof="0" dirty="0"/>
          </a:p>
        </p:txBody>
      </p:sp>
      <p:sp>
        <p:nvSpPr>
          <p:cNvPr id="14" name="text-103"/>
          <p:cNvSpPr txBox="1"/>
          <p:nvPr/>
        </p:nvSpPr>
        <p:spPr>
          <a:xfrm>
            <a:off x="4937760" y="255031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noProof="0" dirty="0">
                <a:solidFill>
                  <a:schemeClr val="tx2"/>
                </a:solidFill>
              </a:rPr>
              <a:t>Решения принимаются на основе данных</a:t>
            </a:r>
            <a:endParaRPr lang="ru-RU" sz="1400" noProof="0" dirty="0"/>
          </a:p>
        </p:txBody>
      </p:sp>
      <p:sp>
        <p:nvSpPr>
          <p:cNvPr id="15" name="marker-104"/>
          <p:cNvSpPr/>
          <p:nvPr/>
        </p:nvSpPr>
        <p:spPr>
          <a:xfrm>
            <a:off x="4480560" y="2934366"/>
            <a:ext cx="274320" cy="274320"/>
          </a:xfrm>
          <a:prstGeom prst="ellipse">
            <a:avLst/>
          </a:prstGeom>
          <a:solidFill>
            <a:srgbClr val="14121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6" name="text-105"/>
          <p:cNvSpPr txBox="1"/>
          <p:nvPr/>
        </p:nvSpPr>
        <p:spPr>
          <a:xfrm>
            <a:off x="4937760" y="288864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800" b="1" noProof="0" dirty="0">
                <a:solidFill>
                  <a:schemeClr val="tx1"/>
                </a:solidFill>
              </a:rPr>
              <a:t>Глубокое обучение, DL</a:t>
            </a:r>
            <a:endParaRPr lang="ru-RU" sz="1800" noProof="0" dirty="0"/>
          </a:p>
        </p:txBody>
      </p:sp>
      <p:sp>
        <p:nvSpPr>
          <p:cNvPr id="17" name="text-106"/>
          <p:cNvSpPr txBox="1"/>
          <p:nvPr/>
        </p:nvSpPr>
        <p:spPr>
          <a:xfrm>
            <a:off x="4937760" y="327269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noProof="0" dirty="0">
                <a:solidFill>
                  <a:schemeClr val="tx2"/>
                </a:solidFill>
              </a:rPr>
              <a:t>Часть МО, построенная на нейронных сетях</a:t>
            </a:r>
            <a:endParaRPr lang="ru-RU" sz="14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13</a:t>
            </a:fld>
            <a:endParaRPr lang="ru-RU" noProof="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C00FF06-B181-7B2C-7FF9-95D3367EFE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  <p:sp>
        <p:nvSpPr>
          <p:cNvPr id="19" name="circle-dl-94">
            <a:extLst>
              <a:ext uri="{FF2B5EF4-FFF2-40B4-BE49-F238E27FC236}">
                <a16:creationId xmlns:a16="http://schemas.microsoft.com/office/drawing/2014/main" id="{AFAE77AB-B4C5-DEAC-5844-755CC63B8ED5}"/>
              </a:ext>
            </a:extLst>
          </p:cNvPr>
          <p:cNvSpPr/>
          <p:nvPr/>
        </p:nvSpPr>
        <p:spPr>
          <a:xfrm>
            <a:off x="1618488" y="3575304"/>
            <a:ext cx="1008888" cy="1038606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DDD846-2767-2FD5-023C-E937B55B9D59}"/>
              </a:ext>
            </a:extLst>
          </p:cNvPr>
          <p:cNvSpPr txBox="1"/>
          <p:nvPr/>
        </p:nvSpPr>
        <p:spPr>
          <a:xfrm>
            <a:off x="1574292" y="3909941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j-lt"/>
              </a:rPr>
              <a:t>GenAI</a:t>
            </a:r>
            <a:endParaRPr lang="ru-RU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marker-104">
            <a:extLst>
              <a:ext uri="{FF2B5EF4-FFF2-40B4-BE49-F238E27FC236}">
                <a16:creationId xmlns:a16="http://schemas.microsoft.com/office/drawing/2014/main" id="{336F5A71-73D6-8E8C-3373-BC4DE56CD9E6}"/>
              </a:ext>
            </a:extLst>
          </p:cNvPr>
          <p:cNvSpPr/>
          <p:nvPr/>
        </p:nvSpPr>
        <p:spPr>
          <a:xfrm>
            <a:off x="4480560" y="3711606"/>
            <a:ext cx="274320" cy="274320"/>
          </a:xfrm>
          <a:prstGeom prst="ellipse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27" name="text-105">
            <a:extLst>
              <a:ext uri="{FF2B5EF4-FFF2-40B4-BE49-F238E27FC236}">
                <a16:creationId xmlns:a16="http://schemas.microsoft.com/office/drawing/2014/main" id="{A66274ED-DE51-EE5A-7D68-9FF8ED87B46E}"/>
              </a:ext>
            </a:extLst>
          </p:cNvPr>
          <p:cNvSpPr txBox="1"/>
          <p:nvPr/>
        </p:nvSpPr>
        <p:spPr>
          <a:xfrm>
            <a:off x="4937760" y="366588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b="1" dirty="0"/>
              <a:t>Генеративный ИИ</a:t>
            </a:r>
            <a:r>
              <a:rPr lang="ru-RU" sz="1800" b="1" noProof="0" dirty="0">
                <a:solidFill>
                  <a:schemeClr val="tx1"/>
                </a:solidFill>
              </a:rPr>
              <a:t>, </a:t>
            </a:r>
            <a:r>
              <a:rPr lang="en-US" sz="1800" b="1" noProof="0" dirty="0">
                <a:solidFill>
                  <a:schemeClr val="tx1"/>
                </a:solidFill>
              </a:rPr>
              <a:t>GenAI</a:t>
            </a:r>
            <a:endParaRPr lang="ru-RU" sz="1800" noProof="0" dirty="0"/>
          </a:p>
        </p:txBody>
      </p:sp>
      <p:sp>
        <p:nvSpPr>
          <p:cNvPr id="28" name="text-106">
            <a:extLst>
              <a:ext uri="{FF2B5EF4-FFF2-40B4-BE49-F238E27FC236}">
                <a16:creationId xmlns:a16="http://schemas.microsoft.com/office/drawing/2014/main" id="{DB95DA9D-4EED-064F-6D74-5B0FC4023F8E}"/>
              </a:ext>
            </a:extLst>
          </p:cNvPr>
          <p:cNvSpPr txBox="1"/>
          <p:nvPr/>
        </p:nvSpPr>
        <p:spPr>
          <a:xfrm>
            <a:off x="4937760" y="404993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noProof="0" dirty="0">
                <a:solidFill>
                  <a:schemeClr val="tx2"/>
                </a:solidFill>
              </a:rPr>
              <a:t>Подвид глубокого обучения, создающий новый контент (текст, изображения, код) на основе изученных данных.</a:t>
            </a:r>
            <a:endParaRPr lang="ru-RU" sz="14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600" b="1" noProof="0" dirty="0">
                <a:solidFill>
                  <a:schemeClr val="tx1"/>
                </a:solidFill>
              </a:rPr>
              <a:t>Правила или примеры?</a:t>
            </a:r>
            <a:endParaRPr lang="ru-RU" sz="3600" noProof="0" dirty="0"/>
          </a:p>
        </p:txBody>
      </p:sp>
      <p:sp>
        <p:nvSpPr>
          <p:cNvPr id="3" name="card-107"/>
          <p:cNvSpPr/>
          <p:nvPr/>
        </p:nvSpPr>
        <p:spPr>
          <a:xfrm>
            <a:off x="457200" y="123444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4" name="icon-bg-108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ru-RU" noProof="0" dirty="0"/>
          </a:p>
        </p:txBody>
      </p:sp>
      <p:pic>
        <p:nvPicPr>
          <p:cNvPr id="5" name="icon-109" descr="FaTim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00200"/>
            <a:ext cx="274320" cy="274320"/>
          </a:xfrm>
          <a:prstGeom prst="rect">
            <a:avLst/>
          </a:prstGeom>
        </p:spPr>
      </p:pic>
      <p:sp>
        <p:nvSpPr>
          <p:cNvPr id="6" name="text-110"/>
          <p:cNvSpPr txBox="1"/>
          <p:nvPr/>
        </p:nvSpPr>
        <p:spPr>
          <a:xfrm>
            <a:off x="1417320" y="1463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 noProof="0" dirty="0">
                <a:solidFill>
                  <a:schemeClr val="tx1"/>
                </a:solidFill>
              </a:rPr>
              <a:t>Писать правила руками</a:t>
            </a:r>
            <a:endParaRPr lang="ru-RU" sz="2000" noProof="0" dirty="0"/>
          </a:p>
        </p:txBody>
      </p:sp>
      <p:sp>
        <p:nvSpPr>
          <p:cNvPr id="7" name="text-111"/>
          <p:cNvSpPr txBox="1"/>
          <p:nvPr/>
        </p:nvSpPr>
        <p:spPr>
          <a:xfrm>
            <a:off x="685800" y="219456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ru-RU" sz="1700" noProof="0" dirty="0">
                <a:solidFill>
                  <a:schemeClr val="tx1"/>
                </a:solidFill>
              </a:rPr>
              <a:t>Красное? Зелёное? Жёлтое?</a:t>
            </a:r>
            <a:endParaRPr lang="ru-RU" sz="17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ru-RU" sz="1700" noProof="0" dirty="0">
                <a:solidFill>
                  <a:schemeClr val="tx1"/>
                </a:solidFill>
              </a:rPr>
              <a:t>Целое или надкушенное?</a:t>
            </a:r>
            <a:endParaRPr lang="ru-RU" sz="17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ru-RU" sz="1700" noProof="0" dirty="0">
                <a:solidFill>
                  <a:schemeClr val="tx1"/>
                </a:solidFill>
              </a:rPr>
              <a:t>На дереве или на столе?</a:t>
            </a:r>
            <a:endParaRPr lang="ru-RU" sz="17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ru-RU" sz="1700" b="1" noProof="0" dirty="0">
                <a:solidFill>
                  <a:schemeClr val="tx1"/>
                </a:solidFill>
              </a:rPr>
              <a:t>Список правил растёт — и всё равно ломается</a:t>
            </a:r>
            <a:endParaRPr lang="ru-RU" sz="1700" noProof="0" dirty="0"/>
          </a:p>
        </p:txBody>
      </p:sp>
      <p:sp>
        <p:nvSpPr>
          <p:cNvPr id="8" name="card-112"/>
          <p:cNvSpPr/>
          <p:nvPr/>
        </p:nvSpPr>
        <p:spPr>
          <a:xfrm>
            <a:off x="4754880" y="123444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14121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9" name="icon-bg-113"/>
          <p:cNvSpPr/>
          <p:nvPr/>
        </p:nvSpPr>
        <p:spPr>
          <a:xfrm>
            <a:off x="4983480" y="1463040"/>
            <a:ext cx="548640" cy="548640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pic>
        <p:nvPicPr>
          <p:cNvPr id="10" name="icon-114" descr="Fa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600200"/>
            <a:ext cx="274320" cy="274320"/>
          </a:xfrm>
          <a:prstGeom prst="rect">
            <a:avLst/>
          </a:prstGeom>
        </p:spPr>
      </p:pic>
      <p:sp>
        <p:nvSpPr>
          <p:cNvPr id="11" name="text-115"/>
          <p:cNvSpPr txBox="1"/>
          <p:nvPr/>
        </p:nvSpPr>
        <p:spPr>
          <a:xfrm>
            <a:off x="5715000" y="1463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 noProof="0" dirty="0">
                <a:solidFill>
                  <a:schemeClr val="bg1"/>
                </a:solidFill>
              </a:rPr>
              <a:t>Показать примеры</a:t>
            </a:r>
            <a:endParaRPr lang="ru-RU" sz="2000" noProof="0" dirty="0"/>
          </a:p>
        </p:txBody>
      </p:sp>
      <p:sp>
        <p:nvSpPr>
          <p:cNvPr id="12" name="text-116"/>
          <p:cNvSpPr txBox="1"/>
          <p:nvPr/>
        </p:nvSpPr>
        <p:spPr>
          <a:xfrm>
            <a:off x="4983480" y="219456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ru-RU" sz="1700" noProof="0" dirty="0">
                <a:solidFill>
                  <a:schemeClr val="bg1"/>
                </a:solidFill>
              </a:rPr>
              <a:t>Показываем много картинок</a:t>
            </a:r>
            <a:endParaRPr lang="ru-RU" sz="17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ru-RU" sz="1700" noProof="0" dirty="0">
                <a:solidFill>
                  <a:schemeClr val="bg1"/>
                </a:solidFill>
              </a:rPr>
              <a:t>Говорим: «яблоко» или «не яблоко»</a:t>
            </a:r>
            <a:endParaRPr lang="ru-RU" sz="17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ru-RU" sz="1700" noProof="0" dirty="0">
                <a:solidFill>
                  <a:schemeClr val="bg1"/>
                </a:solidFill>
              </a:rPr>
              <a:t>Модель сама находит закономерности</a:t>
            </a:r>
            <a:endParaRPr lang="ru-RU" sz="17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ru-RU" sz="1700" b="1" noProof="0" dirty="0">
                <a:solidFill>
                  <a:schemeClr val="bg1"/>
                </a:solidFill>
              </a:rPr>
              <a:t>Узнаёт яблоко на фото, которого не видела</a:t>
            </a:r>
            <a:endParaRPr lang="ru-RU" sz="17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14</a:t>
            </a:fld>
            <a:endParaRPr lang="ru-RU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871788-15BD-F55B-30F2-0385FE5999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600" b="1" noProof="0" dirty="0">
                <a:solidFill>
                  <a:schemeClr val="tx1"/>
                </a:solidFill>
              </a:rPr>
              <a:t>Глубокое обучение</a:t>
            </a:r>
            <a:endParaRPr lang="ru-RU" sz="3600" noProof="0" dirty="0"/>
          </a:p>
        </p:txBody>
      </p:sp>
      <p:sp>
        <p:nvSpPr>
          <p:cNvPr id="3" name="text-117"/>
          <p:cNvSpPr txBox="1"/>
          <p:nvPr/>
        </p:nvSpPr>
        <p:spPr>
          <a:xfrm>
            <a:off x="457200" y="12801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200" b="1" noProof="0" dirty="0">
                <a:solidFill>
                  <a:schemeClr val="tx1"/>
                </a:solidFill>
              </a:rPr>
              <a:t>Часть машинного обучения, которая использует нейронные сети</a:t>
            </a:r>
            <a:endParaRPr lang="ru-RU" sz="2200" noProof="0" dirty="0"/>
          </a:p>
        </p:txBody>
      </p:sp>
      <p:sp>
        <p:nvSpPr>
          <p:cNvPr id="4" name="text-118"/>
          <p:cNvSpPr txBox="1"/>
          <p:nvPr/>
        </p:nvSpPr>
        <p:spPr>
          <a:xfrm>
            <a:off x="457200" y="26060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noProof="0" dirty="0">
                <a:solidFill>
                  <a:schemeClr val="tx2"/>
                </a:solidFill>
              </a:rPr>
              <a:t>Один из методов МО оказался настолько эффективным, что вырос в отдельную область</a:t>
            </a:r>
            <a:endParaRPr lang="ru-RU" sz="1400" noProof="0" dirty="0"/>
          </a:p>
        </p:txBody>
      </p:sp>
      <p:sp>
        <p:nvSpPr>
          <p:cNvPr id="5" name="card-119"/>
          <p:cNvSpPr/>
          <p:nvPr/>
        </p:nvSpPr>
        <p:spPr>
          <a:xfrm>
            <a:off x="4846320" y="128016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6" name="icon-bg-120"/>
          <p:cNvSpPr/>
          <p:nvPr/>
        </p:nvSpPr>
        <p:spPr>
          <a:xfrm>
            <a:off x="4983480" y="1417320"/>
            <a:ext cx="457200" cy="457200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pic>
        <p:nvPicPr>
          <p:cNvPr id="7" name="icon-121" descr="FaEy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780" y="1531620"/>
            <a:ext cx="228600" cy="228600"/>
          </a:xfrm>
          <a:prstGeom prst="rect">
            <a:avLst/>
          </a:prstGeom>
        </p:spPr>
      </p:pic>
      <p:sp>
        <p:nvSpPr>
          <p:cNvPr id="8" name="text-122"/>
          <p:cNvSpPr txBox="1"/>
          <p:nvPr/>
        </p:nvSpPr>
        <p:spPr>
          <a:xfrm>
            <a:off x="4983480" y="19385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b="1" noProof="0" dirty="0">
                <a:solidFill>
                  <a:schemeClr val="tx1"/>
                </a:solidFill>
              </a:rPr>
              <a:t>Распознавание изображений</a:t>
            </a:r>
            <a:endParaRPr lang="ru-RU" sz="1400" noProof="0" dirty="0"/>
          </a:p>
        </p:txBody>
      </p:sp>
      <p:sp>
        <p:nvSpPr>
          <p:cNvPr id="9" name="card-123"/>
          <p:cNvSpPr/>
          <p:nvPr/>
        </p:nvSpPr>
        <p:spPr>
          <a:xfrm>
            <a:off x="6858000" y="128016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0" name="icon-bg-124"/>
          <p:cNvSpPr/>
          <p:nvPr/>
        </p:nvSpPr>
        <p:spPr>
          <a:xfrm>
            <a:off x="6995160" y="1417320"/>
            <a:ext cx="457200" cy="457200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pic>
        <p:nvPicPr>
          <p:cNvPr id="11" name="icon-125" descr="FaCommentDo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460" y="1531620"/>
            <a:ext cx="228600" cy="228600"/>
          </a:xfrm>
          <a:prstGeom prst="rect">
            <a:avLst/>
          </a:prstGeom>
        </p:spPr>
      </p:pic>
      <p:sp>
        <p:nvSpPr>
          <p:cNvPr id="12" name="text-126"/>
          <p:cNvSpPr txBox="1"/>
          <p:nvPr/>
        </p:nvSpPr>
        <p:spPr>
          <a:xfrm>
            <a:off x="6995160" y="19385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b="1" noProof="0" dirty="0">
                <a:solidFill>
                  <a:schemeClr val="tx1"/>
                </a:solidFill>
              </a:rPr>
              <a:t>Генерация текста</a:t>
            </a:r>
            <a:endParaRPr lang="ru-RU" sz="1400" noProof="0" dirty="0"/>
          </a:p>
        </p:txBody>
      </p:sp>
      <p:sp>
        <p:nvSpPr>
          <p:cNvPr id="13" name="card-127"/>
          <p:cNvSpPr/>
          <p:nvPr/>
        </p:nvSpPr>
        <p:spPr>
          <a:xfrm>
            <a:off x="4846320" y="251460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4" name="icon-bg-128"/>
          <p:cNvSpPr/>
          <p:nvPr/>
        </p:nvSpPr>
        <p:spPr>
          <a:xfrm>
            <a:off x="4983480" y="2651760"/>
            <a:ext cx="457200" cy="457200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pic>
        <p:nvPicPr>
          <p:cNvPr id="15" name="icon-129" descr="FaChessKnigh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7780" y="2766060"/>
            <a:ext cx="228600" cy="228600"/>
          </a:xfrm>
          <a:prstGeom prst="rect">
            <a:avLst/>
          </a:prstGeom>
        </p:spPr>
      </p:pic>
      <p:sp>
        <p:nvSpPr>
          <p:cNvPr id="16" name="text-130"/>
          <p:cNvSpPr txBox="1"/>
          <p:nvPr/>
        </p:nvSpPr>
        <p:spPr>
          <a:xfrm>
            <a:off x="4983480" y="31729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b="1" noProof="0" dirty="0">
                <a:solidFill>
                  <a:schemeClr val="tx1"/>
                </a:solidFill>
              </a:rPr>
              <a:t>Игра в го</a:t>
            </a:r>
            <a:endParaRPr lang="ru-RU" sz="1400" noProof="0" dirty="0"/>
          </a:p>
        </p:txBody>
      </p:sp>
      <p:sp>
        <p:nvSpPr>
          <p:cNvPr id="17" name="card-131"/>
          <p:cNvSpPr/>
          <p:nvPr/>
        </p:nvSpPr>
        <p:spPr>
          <a:xfrm>
            <a:off x="6858000" y="251460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8" name="icon-bg-132"/>
          <p:cNvSpPr/>
          <p:nvPr/>
        </p:nvSpPr>
        <p:spPr>
          <a:xfrm>
            <a:off x="6995160" y="2651760"/>
            <a:ext cx="457200" cy="457200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pic>
        <p:nvPicPr>
          <p:cNvPr id="19" name="icon-133" descr="FaCa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9460" y="2766060"/>
            <a:ext cx="228600" cy="228600"/>
          </a:xfrm>
          <a:prstGeom prst="rect">
            <a:avLst/>
          </a:prstGeom>
        </p:spPr>
      </p:pic>
      <p:sp>
        <p:nvSpPr>
          <p:cNvPr id="20" name="text-134"/>
          <p:cNvSpPr txBox="1"/>
          <p:nvPr/>
        </p:nvSpPr>
        <p:spPr>
          <a:xfrm>
            <a:off x="6995160" y="31729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b="1" noProof="0" dirty="0">
                <a:solidFill>
                  <a:schemeClr val="tx1"/>
                </a:solidFill>
              </a:rPr>
              <a:t>Беспилотные авто</a:t>
            </a:r>
            <a:endParaRPr lang="ru-RU" sz="1400" noProof="0" dirty="0"/>
          </a:p>
        </p:txBody>
      </p:sp>
      <p:sp>
        <p:nvSpPr>
          <p:cNvPr id="21" name="card-135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14121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22" name="text-136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800" b="1" noProof="0" dirty="0">
                <a:solidFill>
                  <a:schemeClr val="bg1"/>
                </a:solidFill>
              </a:rPr>
              <a:t>ИИ</a:t>
            </a:r>
            <a:r>
              <a:rPr lang="ru-RU" sz="1800" noProof="0" dirty="0">
                <a:solidFill>
                  <a:schemeClr val="bg1"/>
                </a:solidFill>
              </a:rPr>
              <a:t> — весь транспорт   →   </a:t>
            </a:r>
            <a:r>
              <a:rPr lang="ru-RU" sz="1800" b="1" noProof="0" dirty="0">
                <a:solidFill>
                  <a:schemeClr val="bg1"/>
                </a:solidFill>
              </a:rPr>
              <a:t>МО</a:t>
            </a:r>
            <a:r>
              <a:rPr lang="ru-RU" sz="1800" noProof="0" dirty="0">
                <a:solidFill>
                  <a:schemeClr val="bg1"/>
                </a:solidFill>
              </a:rPr>
              <a:t> — автомобили   →   </a:t>
            </a:r>
            <a:r>
              <a:rPr lang="ru-RU" sz="1800" b="1" noProof="0" dirty="0">
                <a:solidFill>
                  <a:schemeClr val="accent1"/>
                </a:solidFill>
              </a:rPr>
              <a:t>ГО</a:t>
            </a:r>
            <a:r>
              <a:rPr lang="ru-RU" sz="1800" noProof="0" dirty="0">
                <a:solidFill>
                  <a:schemeClr val="bg1"/>
                </a:solidFill>
              </a:rPr>
              <a:t> — Ferrari</a:t>
            </a:r>
            <a:endParaRPr lang="ru-RU" sz="1800" noProof="0" dirty="0"/>
          </a:p>
        </p:txBody>
      </p:sp>
      <p:sp>
        <p:nvSpPr>
          <p:cNvPr id="23" name="text-137"/>
          <p:cNvSpPr txBox="1"/>
          <p:nvPr/>
        </p:nvSpPr>
        <p:spPr>
          <a:xfrm>
            <a:off x="457200" y="46177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000" noProof="0" dirty="0">
                <a:solidFill>
                  <a:schemeClr val="tx2"/>
                </a:solidFill>
              </a:rPr>
              <a:t>Определения и аналогии: Л. Серрано, «</a:t>
            </a:r>
            <a:r>
              <a:rPr lang="ru-RU" sz="1000" noProof="0" dirty="0" err="1">
                <a:solidFill>
                  <a:schemeClr val="tx2"/>
                </a:solidFill>
              </a:rPr>
              <a:t>Грокаем</a:t>
            </a:r>
            <a:r>
              <a:rPr lang="ru-RU" sz="1000" noProof="0" dirty="0">
                <a:solidFill>
                  <a:schemeClr val="tx2"/>
                </a:solidFill>
              </a:rPr>
              <a:t> машинное обучение»</a:t>
            </a:r>
            <a:endParaRPr lang="ru-RU" sz="10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15</a:t>
            </a:fld>
            <a:endParaRPr lang="ru-RU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C81FE37-C424-43BB-873F-658D305C63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600" b="1" noProof="0" dirty="0">
                <a:solidFill>
                  <a:schemeClr val="tx1"/>
                </a:solidFill>
              </a:rPr>
              <a:t>Как мы принимаем решения</a:t>
            </a:r>
            <a:endParaRPr lang="ru-RU" sz="3600" noProof="0" dirty="0"/>
          </a:p>
        </p:txBody>
      </p:sp>
      <p:sp>
        <p:nvSpPr>
          <p:cNvPr id="3" name="text-138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600" noProof="0" dirty="0">
                <a:solidFill>
                  <a:schemeClr val="tx2"/>
                </a:solidFill>
              </a:rPr>
              <a:t>Пример: будет ли сегодня дождь?</a:t>
            </a:r>
            <a:endParaRPr lang="ru-RU" sz="1600" noProof="0" dirty="0"/>
          </a:p>
        </p:txBody>
      </p:sp>
      <p:sp>
        <p:nvSpPr>
          <p:cNvPr id="4" name="card-139"/>
          <p:cNvSpPr/>
          <p:nvPr/>
        </p:nvSpPr>
        <p:spPr>
          <a:xfrm>
            <a:off x="457200" y="169164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5" name="icon-bg-140"/>
          <p:cNvSpPr/>
          <p:nvPr/>
        </p:nvSpPr>
        <p:spPr>
          <a:xfrm>
            <a:off x="685800" y="1920240"/>
            <a:ext cx="640080" cy="640080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pic>
        <p:nvPicPr>
          <p:cNvPr id="6" name="icon-141" descr="FaHisto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080260"/>
            <a:ext cx="320040" cy="320040"/>
          </a:xfrm>
          <a:prstGeom prst="rect">
            <a:avLst/>
          </a:prstGeom>
        </p:spPr>
      </p:pic>
      <p:sp>
        <p:nvSpPr>
          <p:cNvPr id="7" name="text-142"/>
          <p:cNvSpPr txBox="1"/>
          <p:nvPr/>
        </p:nvSpPr>
        <p:spPr>
          <a:xfrm>
            <a:off x="685800" y="27432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800" b="1" noProof="0" dirty="0">
                <a:solidFill>
                  <a:schemeClr val="tx1"/>
                </a:solidFill>
              </a:rPr>
              <a:t>Вспомнить</a:t>
            </a:r>
            <a:endParaRPr lang="ru-RU" sz="1800" noProof="0" dirty="0"/>
          </a:p>
        </p:txBody>
      </p:sp>
      <p:sp>
        <p:nvSpPr>
          <p:cNvPr id="8" name="text-143"/>
          <p:cNvSpPr txBox="1"/>
          <p:nvPr/>
        </p:nvSpPr>
        <p:spPr>
          <a:xfrm>
            <a:off x="685800" y="33832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i="1" noProof="0" dirty="0">
                <a:solidFill>
                  <a:schemeClr val="tx2"/>
                </a:solidFill>
              </a:rPr>
              <a:t>«На прошлой неделе почти всё время шёл дождь»</a:t>
            </a:r>
            <a:endParaRPr lang="ru-RU" sz="1400" noProof="0" dirty="0"/>
          </a:p>
        </p:txBody>
      </p:sp>
      <p:sp>
        <p:nvSpPr>
          <p:cNvPr id="9" name="arrow-144"/>
          <p:cNvSpPr/>
          <p:nvPr/>
        </p:nvSpPr>
        <p:spPr>
          <a:xfrm>
            <a:off x="2944368" y="2880360"/>
            <a:ext cx="329184" cy="329184"/>
          </a:xfrm>
          <a:prstGeom prst="rightArrow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0" name="card-145"/>
          <p:cNvSpPr/>
          <p:nvPr/>
        </p:nvSpPr>
        <p:spPr>
          <a:xfrm>
            <a:off x="3383280" y="169164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1" name="icon-bg-146"/>
          <p:cNvSpPr/>
          <p:nvPr/>
        </p:nvSpPr>
        <p:spPr>
          <a:xfrm>
            <a:off x="3611880" y="1920240"/>
            <a:ext cx="640080" cy="640080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pic>
        <p:nvPicPr>
          <p:cNvPr id="12" name="icon-147" descr="FaPencilAl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0" y="2080260"/>
            <a:ext cx="320040" cy="320040"/>
          </a:xfrm>
          <a:prstGeom prst="rect">
            <a:avLst/>
          </a:prstGeom>
        </p:spPr>
      </p:pic>
      <p:sp>
        <p:nvSpPr>
          <p:cNvPr id="13" name="text-148"/>
          <p:cNvSpPr txBox="1"/>
          <p:nvPr/>
        </p:nvSpPr>
        <p:spPr>
          <a:xfrm>
            <a:off x="3611880" y="27432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800" b="1" noProof="0" dirty="0">
                <a:solidFill>
                  <a:schemeClr val="tx1"/>
                </a:solidFill>
              </a:rPr>
              <a:t>Сформулировать правило</a:t>
            </a:r>
            <a:endParaRPr lang="ru-RU" sz="1800" noProof="0" dirty="0"/>
          </a:p>
        </p:txBody>
      </p:sp>
      <p:sp>
        <p:nvSpPr>
          <p:cNvPr id="14" name="text-149"/>
          <p:cNvSpPr txBox="1"/>
          <p:nvPr/>
        </p:nvSpPr>
        <p:spPr>
          <a:xfrm>
            <a:off x="3611880" y="33832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i="1" noProof="0" dirty="0">
                <a:solidFill>
                  <a:schemeClr val="tx2"/>
                </a:solidFill>
              </a:rPr>
              <a:t>«Здесь в основном идёт дождь»</a:t>
            </a:r>
            <a:endParaRPr lang="ru-RU" sz="1400" noProof="0" dirty="0"/>
          </a:p>
        </p:txBody>
      </p:sp>
      <p:sp>
        <p:nvSpPr>
          <p:cNvPr id="15" name="arrow-150"/>
          <p:cNvSpPr/>
          <p:nvPr/>
        </p:nvSpPr>
        <p:spPr>
          <a:xfrm>
            <a:off x="5870448" y="2880360"/>
            <a:ext cx="329184" cy="329184"/>
          </a:xfrm>
          <a:prstGeom prst="rightArrow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6" name="card-151"/>
          <p:cNvSpPr/>
          <p:nvPr/>
        </p:nvSpPr>
        <p:spPr>
          <a:xfrm>
            <a:off x="6309360" y="169164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7" name="icon-bg-152"/>
          <p:cNvSpPr/>
          <p:nvPr/>
        </p:nvSpPr>
        <p:spPr>
          <a:xfrm>
            <a:off x="6537960" y="1920240"/>
            <a:ext cx="640080" cy="640080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pic>
        <p:nvPicPr>
          <p:cNvPr id="18" name="icon-153" descr="FaBullsey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980" y="2080260"/>
            <a:ext cx="320040" cy="320040"/>
          </a:xfrm>
          <a:prstGeom prst="rect">
            <a:avLst/>
          </a:prstGeom>
        </p:spPr>
      </p:pic>
      <p:sp>
        <p:nvSpPr>
          <p:cNvPr id="19" name="text-154"/>
          <p:cNvSpPr txBox="1"/>
          <p:nvPr/>
        </p:nvSpPr>
        <p:spPr>
          <a:xfrm>
            <a:off x="6537960" y="27432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800" b="1" noProof="0" dirty="0">
                <a:solidFill>
                  <a:schemeClr val="tx1"/>
                </a:solidFill>
              </a:rPr>
              <a:t>Предсказать</a:t>
            </a:r>
            <a:endParaRPr lang="ru-RU" sz="1800" noProof="0" dirty="0"/>
          </a:p>
        </p:txBody>
      </p:sp>
      <p:sp>
        <p:nvSpPr>
          <p:cNvPr id="20" name="text-155"/>
          <p:cNvSpPr txBox="1"/>
          <p:nvPr/>
        </p:nvSpPr>
        <p:spPr>
          <a:xfrm>
            <a:off x="6537960" y="33832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i="1" noProof="0" dirty="0">
                <a:solidFill>
                  <a:schemeClr val="tx2"/>
                </a:solidFill>
              </a:rPr>
              <a:t>«Сегодня тоже будет дождь»</a:t>
            </a:r>
            <a:endParaRPr lang="ru-RU" sz="14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16</a:t>
            </a:fld>
            <a:endParaRPr lang="ru-RU" noProof="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74C42D8-1C32-78DA-921A-996B1A5AE7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600" b="1" noProof="0" dirty="0">
                <a:solidFill>
                  <a:schemeClr val="tx1"/>
                </a:solidFill>
              </a:rPr>
              <a:t>Модель, алгоритм, признак</a:t>
            </a:r>
            <a:endParaRPr lang="ru-RU" sz="3600" noProof="0" dirty="0"/>
          </a:p>
        </p:txBody>
      </p:sp>
      <p:sp>
        <p:nvSpPr>
          <p:cNvPr id="3" name="card-156"/>
          <p:cNvSpPr/>
          <p:nvPr/>
        </p:nvSpPr>
        <p:spPr>
          <a:xfrm>
            <a:off x="457200" y="1234440"/>
            <a:ext cx="2560320" cy="2331720"/>
          </a:xfrm>
          <a:prstGeom prst="roundRect">
            <a:avLst>
              <a:gd name="adj" fmla="val 4706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4" name="icon-bg-157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pic>
        <p:nvPicPr>
          <p:cNvPr id="5" name="icon-158" descr="FaCub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54480"/>
            <a:ext cx="274320" cy="274320"/>
          </a:xfrm>
          <a:prstGeom prst="rect">
            <a:avLst/>
          </a:prstGeom>
        </p:spPr>
      </p:pic>
      <p:sp>
        <p:nvSpPr>
          <p:cNvPr id="6" name="text-159"/>
          <p:cNvSpPr txBox="1"/>
          <p:nvPr/>
        </p:nvSpPr>
        <p:spPr>
          <a:xfrm>
            <a:off x="137160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000" b="1" noProof="0" dirty="0">
                <a:solidFill>
                  <a:schemeClr val="tx1"/>
                </a:solidFill>
              </a:rPr>
              <a:t>Модель</a:t>
            </a:r>
            <a:endParaRPr lang="ru-RU" sz="2000" noProof="0" dirty="0"/>
          </a:p>
        </p:txBody>
      </p:sp>
      <p:sp>
        <p:nvSpPr>
          <p:cNvPr id="7" name="text-160"/>
          <p:cNvSpPr txBox="1"/>
          <p:nvPr/>
        </p:nvSpPr>
        <p:spPr>
          <a:xfrm>
            <a:off x="1371600" y="1755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i="1" noProof="0" dirty="0">
                <a:solidFill>
                  <a:schemeClr val="tx2"/>
                </a:solidFill>
              </a:rPr>
              <a:t>готовое блюдо</a:t>
            </a:r>
            <a:endParaRPr lang="ru-RU" sz="1400" noProof="0" dirty="0"/>
          </a:p>
        </p:txBody>
      </p:sp>
      <p:sp>
        <p:nvSpPr>
          <p:cNvPr id="8" name="text-161"/>
          <p:cNvSpPr txBox="1"/>
          <p:nvPr/>
        </p:nvSpPr>
        <p:spPr>
          <a:xfrm>
            <a:off x="640080" y="22402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noProof="0" dirty="0">
                <a:solidFill>
                  <a:schemeClr val="tx1"/>
                </a:solidFill>
              </a:rPr>
              <a:t>Набор правил, которые описывают данные и позволяют делать прогнозы</a:t>
            </a:r>
            <a:endParaRPr lang="ru-RU" sz="1400" noProof="0" dirty="0"/>
          </a:p>
        </p:txBody>
      </p:sp>
      <p:sp>
        <p:nvSpPr>
          <p:cNvPr id="9" name="card-162"/>
          <p:cNvSpPr/>
          <p:nvPr/>
        </p:nvSpPr>
        <p:spPr>
          <a:xfrm>
            <a:off x="3291840" y="1234440"/>
            <a:ext cx="2560320" cy="2331720"/>
          </a:xfrm>
          <a:prstGeom prst="roundRect">
            <a:avLst>
              <a:gd name="adj" fmla="val 4706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0" name="icon-bg-163"/>
          <p:cNvSpPr/>
          <p:nvPr/>
        </p:nvSpPr>
        <p:spPr>
          <a:xfrm>
            <a:off x="3474720" y="1417320"/>
            <a:ext cx="548640" cy="548640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pic>
        <p:nvPicPr>
          <p:cNvPr id="11" name="icon-164" descr="FaCog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554480"/>
            <a:ext cx="274320" cy="274320"/>
          </a:xfrm>
          <a:prstGeom prst="rect">
            <a:avLst/>
          </a:prstGeom>
        </p:spPr>
      </p:pic>
      <p:sp>
        <p:nvSpPr>
          <p:cNvPr id="12" name="text-165"/>
          <p:cNvSpPr txBox="1"/>
          <p:nvPr/>
        </p:nvSpPr>
        <p:spPr>
          <a:xfrm>
            <a:off x="420624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000" b="1" noProof="0" dirty="0">
                <a:solidFill>
                  <a:schemeClr val="tx1"/>
                </a:solidFill>
              </a:rPr>
              <a:t>Алгоритм</a:t>
            </a:r>
            <a:endParaRPr lang="ru-RU" sz="2000" noProof="0" dirty="0"/>
          </a:p>
        </p:txBody>
      </p:sp>
      <p:sp>
        <p:nvSpPr>
          <p:cNvPr id="13" name="text-166"/>
          <p:cNvSpPr txBox="1"/>
          <p:nvPr/>
        </p:nvSpPr>
        <p:spPr>
          <a:xfrm>
            <a:off x="4206240" y="1755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i="1" noProof="0" dirty="0">
                <a:solidFill>
                  <a:schemeClr val="tx2"/>
                </a:solidFill>
              </a:rPr>
              <a:t>рецепт</a:t>
            </a:r>
            <a:endParaRPr lang="ru-RU" sz="1400" noProof="0" dirty="0"/>
          </a:p>
        </p:txBody>
      </p:sp>
      <p:sp>
        <p:nvSpPr>
          <p:cNvPr id="14" name="text-167"/>
          <p:cNvSpPr txBox="1"/>
          <p:nvPr/>
        </p:nvSpPr>
        <p:spPr>
          <a:xfrm>
            <a:off x="3474720" y="22402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noProof="0" dirty="0">
                <a:solidFill>
                  <a:schemeClr val="tx1"/>
                </a:solidFill>
              </a:rPr>
              <a:t>Шаги, с помощью которых мы строим модель</a:t>
            </a:r>
            <a:endParaRPr lang="ru-RU" sz="1400" noProof="0" dirty="0"/>
          </a:p>
        </p:txBody>
      </p:sp>
      <p:sp>
        <p:nvSpPr>
          <p:cNvPr id="15" name="card-168"/>
          <p:cNvSpPr/>
          <p:nvPr/>
        </p:nvSpPr>
        <p:spPr>
          <a:xfrm>
            <a:off x="6126480" y="1234440"/>
            <a:ext cx="2560320" cy="2331720"/>
          </a:xfrm>
          <a:prstGeom prst="roundRect">
            <a:avLst>
              <a:gd name="adj" fmla="val 4706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6" name="icon-bg-169"/>
          <p:cNvSpPr/>
          <p:nvPr/>
        </p:nvSpPr>
        <p:spPr>
          <a:xfrm>
            <a:off x="6309360" y="1417320"/>
            <a:ext cx="548640" cy="548640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pic>
        <p:nvPicPr>
          <p:cNvPr id="17" name="icon-170" descr="FaTa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554480"/>
            <a:ext cx="274320" cy="274320"/>
          </a:xfrm>
          <a:prstGeom prst="rect">
            <a:avLst/>
          </a:prstGeom>
        </p:spPr>
      </p:pic>
      <p:sp>
        <p:nvSpPr>
          <p:cNvPr id="18" name="text-171"/>
          <p:cNvSpPr txBox="1"/>
          <p:nvPr/>
        </p:nvSpPr>
        <p:spPr>
          <a:xfrm>
            <a:off x="704088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000" b="1" noProof="0" dirty="0">
                <a:solidFill>
                  <a:schemeClr val="tx1"/>
                </a:solidFill>
              </a:rPr>
              <a:t>Признак</a:t>
            </a:r>
            <a:endParaRPr lang="ru-RU" sz="2000" noProof="0" dirty="0"/>
          </a:p>
        </p:txBody>
      </p:sp>
      <p:sp>
        <p:nvSpPr>
          <p:cNvPr id="19" name="text-172"/>
          <p:cNvSpPr txBox="1"/>
          <p:nvPr/>
        </p:nvSpPr>
        <p:spPr>
          <a:xfrm>
            <a:off x="7040880" y="1755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i="1" noProof="0" dirty="0">
                <a:solidFill>
                  <a:schemeClr val="tx2"/>
                </a:solidFill>
              </a:rPr>
              <a:t>свойство данных</a:t>
            </a:r>
            <a:endParaRPr lang="ru-RU" sz="1400" noProof="0" dirty="0"/>
          </a:p>
        </p:txBody>
      </p:sp>
      <p:sp>
        <p:nvSpPr>
          <p:cNvPr id="20" name="text-173"/>
          <p:cNvSpPr txBox="1"/>
          <p:nvPr/>
        </p:nvSpPr>
        <p:spPr>
          <a:xfrm>
            <a:off x="6309360" y="224028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noProof="0" dirty="0">
                <a:solidFill>
                  <a:schemeClr val="tx1"/>
                </a:solidFill>
              </a:rPr>
              <a:t>Характеристика, по которой модель делает прогноз</a:t>
            </a:r>
            <a:endParaRPr lang="ru-RU" sz="1400" noProof="0" dirty="0"/>
          </a:p>
        </p:txBody>
      </p:sp>
      <p:sp>
        <p:nvSpPr>
          <p:cNvPr id="21" name="card-174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14121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22" name="text-175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noProof="0" dirty="0">
                <a:solidFill>
                  <a:schemeClr val="accent1"/>
                </a:solidFill>
              </a:rPr>
              <a:t>Спам:  </a:t>
            </a:r>
            <a:r>
              <a:rPr lang="ru-RU" sz="1400" noProof="0" dirty="0">
                <a:solidFill>
                  <a:schemeClr val="bg1"/>
                </a:solidFill>
              </a:rPr>
              <a:t>признаки — слово «выигрыш», число «!», число ссылок  ·  модель — «выигрыш и много «!» = спам»  ·  алгоритм — поиск правил на размеченных письмах</a:t>
            </a:r>
            <a:endParaRPr lang="ru-RU" sz="14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17</a:t>
            </a:fld>
            <a:endParaRPr lang="ru-RU" noProof="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708E1EB-BB8D-09D9-9843-71D2F5053E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  <p:sp>
        <p:nvSpPr>
          <p:cNvPr id="34" name="text-350">
            <a:extLst>
              <a:ext uri="{FF2B5EF4-FFF2-40B4-BE49-F238E27FC236}">
                <a16:creationId xmlns:a16="http://schemas.microsoft.com/office/drawing/2014/main" id="{81E9535D-33F3-BD99-40A3-7CBE02729A4A}"/>
              </a:ext>
            </a:extLst>
          </p:cNvPr>
          <p:cNvSpPr txBox="1"/>
          <p:nvPr/>
        </p:nvSpPr>
        <p:spPr>
          <a:xfrm>
            <a:off x="5120640" y="4657205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1200" noProof="0" dirty="0">
                <a:solidFill>
                  <a:schemeClr val="accent6"/>
                </a:solidFill>
              </a:rPr>
              <a:t>Ноутбук с примерами:</a:t>
            </a:r>
            <a:endParaRPr lang="ru-RU" sz="1200" noProof="0" dirty="0"/>
          </a:p>
          <a:p>
            <a:pPr marL="0" indent="0" algn="r">
              <a:buNone/>
            </a:pPr>
            <a:r>
              <a:rPr lang="ru-RU" sz="1200" noProof="0" dirty="0">
                <a:solidFill>
                  <a:schemeClr val="accent6"/>
                </a:solidFill>
              </a:rPr>
              <a:t>Lection_1_Practice.ipynb</a:t>
            </a:r>
            <a:endParaRPr lang="ru-RU" sz="120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600" b="1" noProof="0" dirty="0">
                <a:solidFill>
                  <a:schemeClr val="tx1"/>
                </a:solidFill>
              </a:rPr>
              <a:t>Датасет</a:t>
            </a:r>
            <a:endParaRPr lang="ru-RU" sz="3600" noProof="0" dirty="0"/>
          </a:p>
        </p:txBody>
      </p:sp>
      <p:graphicFrame>
        <p:nvGraphicFramePr>
          <p:cNvPr id="10" name="table-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988069"/>
              </p:ext>
            </p:extLst>
          </p:nvPr>
        </p:nvGraphicFramePr>
        <p:xfrm>
          <a:off x="457200" y="1280160"/>
          <a:ext cx="8229600" cy="22860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 noProof="0" dirty="0">
                          <a:solidFill>
                            <a:srgbClr val="FFFFFF"/>
                          </a:solidFill>
                        </a:rPr>
                        <a:t>Автомобиль</a:t>
                      </a:r>
                      <a:endParaRPr lang="ru-RU" sz="1400" noProof="0" dirty="0"/>
                    </a:p>
                  </a:txBody>
                  <a:tcPr anchor="ctr">
                    <a:lnL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 noProof="0" dirty="0">
                          <a:solidFill>
                            <a:srgbClr val="FFFFFF"/>
                          </a:solidFill>
                        </a:rPr>
                        <a:t>Год</a:t>
                      </a:r>
                      <a:endParaRPr lang="ru-RU" sz="1400" noProof="0" dirty="0"/>
                    </a:p>
                  </a:txBody>
                  <a:tcPr anchor="ctr">
                    <a:lnL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 noProof="0" dirty="0">
                          <a:solidFill>
                            <a:srgbClr val="FFFFFF"/>
                          </a:solidFill>
                        </a:rPr>
                        <a:t>Пробег, км</a:t>
                      </a:r>
                      <a:endParaRPr lang="ru-RU" sz="1400" noProof="0" dirty="0"/>
                    </a:p>
                  </a:txBody>
                  <a:tcPr anchor="ctr">
                    <a:lnL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 noProof="0" dirty="0">
                          <a:solidFill>
                            <a:srgbClr val="FFFFFF"/>
                          </a:solidFill>
                        </a:rPr>
                        <a:t>Расход, л/100 км</a:t>
                      </a:r>
                      <a:endParaRPr lang="ru-RU" sz="1400" noProof="0" dirty="0"/>
                    </a:p>
                  </a:txBody>
                  <a:tcPr anchor="ctr">
                    <a:lnL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2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 noProof="0" dirty="0">
                          <a:solidFill>
                            <a:srgbClr val="14121F"/>
                          </a:solidFill>
                        </a:rPr>
                        <a:t>Цена, €</a:t>
                      </a:r>
                      <a:endParaRPr lang="ru-RU" sz="1400" noProof="0" dirty="0"/>
                    </a:p>
                  </a:txBody>
                  <a:tcPr anchor="ctr">
                    <a:lnL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5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noProof="0" dirty="0">
                          <a:solidFill>
                            <a:srgbClr val="14121F"/>
                          </a:solidFill>
                        </a:rPr>
                        <a:t>№1</a:t>
                      </a:r>
                      <a:endParaRPr lang="ru-RU" sz="1400" noProof="0" dirty="0"/>
                    </a:p>
                  </a:txBody>
                  <a:tcPr anchor="ctr">
                    <a:lnL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noProof="0" dirty="0">
                          <a:solidFill>
                            <a:srgbClr val="14121F"/>
                          </a:solidFill>
                        </a:rPr>
                        <a:t>2018</a:t>
                      </a:r>
                      <a:endParaRPr lang="ru-RU" sz="1400" noProof="0" dirty="0"/>
                    </a:p>
                  </a:txBody>
                  <a:tcPr anchor="ctr">
                    <a:lnL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noProof="0" dirty="0">
                          <a:solidFill>
                            <a:srgbClr val="14121F"/>
                          </a:solidFill>
                        </a:rPr>
                        <a:t>80 000</a:t>
                      </a:r>
                      <a:endParaRPr lang="ru-RU" sz="1400" noProof="0" dirty="0"/>
                    </a:p>
                  </a:txBody>
                  <a:tcPr anchor="ctr">
                    <a:lnL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noProof="0" dirty="0">
                          <a:solidFill>
                            <a:srgbClr val="14121F"/>
                          </a:solidFill>
                        </a:rPr>
                        <a:t>6,5</a:t>
                      </a:r>
                      <a:endParaRPr lang="ru-RU" sz="1400" noProof="0" dirty="0"/>
                    </a:p>
                  </a:txBody>
                  <a:tcPr anchor="ctr">
                    <a:lnL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 noProof="0" dirty="0">
                          <a:solidFill>
                            <a:srgbClr val="14121F"/>
                          </a:solidFill>
                        </a:rPr>
                        <a:t>20 000</a:t>
                      </a:r>
                      <a:endParaRPr lang="ru-RU" sz="1400" noProof="0" dirty="0"/>
                    </a:p>
                  </a:txBody>
                  <a:tcPr anchor="ctr">
                    <a:lnL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noProof="0" dirty="0">
                          <a:solidFill>
                            <a:srgbClr val="14121F"/>
                          </a:solidFill>
                        </a:rPr>
                        <a:t>№2</a:t>
                      </a:r>
                      <a:endParaRPr lang="ru-RU" sz="1400" noProof="0" dirty="0"/>
                    </a:p>
                  </a:txBody>
                  <a:tcPr anchor="ctr">
                    <a:lnL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noProof="0" dirty="0">
                          <a:solidFill>
                            <a:srgbClr val="14121F"/>
                          </a:solidFill>
                        </a:rPr>
                        <a:t>2010</a:t>
                      </a:r>
                      <a:endParaRPr lang="ru-RU" sz="1400" noProof="0" dirty="0"/>
                    </a:p>
                  </a:txBody>
                  <a:tcPr anchor="ctr">
                    <a:lnL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noProof="0" dirty="0">
                          <a:solidFill>
                            <a:srgbClr val="14121F"/>
                          </a:solidFill>
                        </a:rPr>
                        <a:t>190 000</a:t>
                      </a:r>
                      <a:endParaRPr lang="ru-RU" sz="1400" noProof="0" dirty="0"/>
                    </a:p>
                  </a:txBody>
                  <a:tcPr anchor="ctr">
                    <a:lnL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noProof="0" dirty="0">
                          <a:solidFill>
                            <a:srgbClr val="14121F"/>
                          </a:solidFill>
                        </a:rPr>
                        <a:t>8,5</a:t>
                      </a:r>
                      <a:endParaRPr lang="ru-RU" sz="1400" noProof="0" dirty="0"/>
                    </a:p>
                  </a:txBody>
                  <a:tcPr anchor="ctr">
                    <a:lnL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 noProof="0" dirty="0">
                          <a:solidFill>
                            <a:srgbClr val="14121F"/>
                          </a:solidFill>
                        </a:rPr>
                        <a:t>7 300</a:t>
                      </a:r>
                      <a:endParaRPr lang="ru-RU" sz="1400" noProof="0" dirty="0"/>
                    </a:p>
                  </a:txBody>
                  <a:tcPr anchor="ctr">
                    <a:lnL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noProof="0" dirty="0">
                          <a:solidFill>
                            <a:srgbClr val="14121F"/>
                          </a:solidFill>
                        </a:rPr>
                        <a:t>№3</a:t>
                      </a:r>
                      <a:endParaRPr lang="ru-RU" sz="1400" noProof="0" dirty="0"/>
                    </a:p>
                  </a:txBody>
                  <a:tcPr anchor="ctr">
                    <a:lnL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noProof="0" dirty="0">
                          <a:solidFill>
                            <a:srgbClr val="14121F"/>
                          </a:solidFill>
                        </a:rPr>
                        <a:t>2022</a:t>
                      </a:r>
                      <a:endParaRPr lang="ru-RU" sz="1400" noProof="0" dirty="0"/>
                    </a:p>
                  </a:txBody>
                  <a:tcPr anchor="ctr">
                    <a:lnL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noProof="0" dirty="0">
                          <a:solidFill>
                            <a:srgbClr val="14121F"/>
                          </a:solidFill>
                        </a:rPr>
                        <a:t>25 000</a:t>
                      </a:r>
                      <a:endParaRPr lang="ru-RU" sz="1400" noProof="0" dirty="0"/>
                    </a:p>
                  </a:txBody>
                  <a:tcPr anchor="ctr">
                    <a:lnL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noProof="0" dirty="0">
                          <a:solidFill>
                            <a:srgbClr val="14121F"/>
                          </a:solidFill>
                        </a:rPr>
                        <a:t>5,9</a:t>
                      </a:r>
                      <a:endParaRPr lang="ru-RU" sz="1400" noProof="0" dirty="0"/>
                    </a:p>
                  </a:txBody>
                  <a:tcPr anchor="ctr">
                    <a:lnL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 noProof="0" dirty="0">
                          <a:solidFill>
                            <a:srgbClr val="14121F"/>
                          </a:solidFill>
                        </a:rPr>
                        <a:t>27 800</a:t>
                      </a:r>
                      <a:endParaRPr lang="ru-RU" sz="1400" noProof="0" dirty="0"/>
                    </a:p>
                  </a:txBody>
                  <a:tcPr anchor="ctr">
                    <a:lnL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noProof="0" dirty="0">
                          <a:solidFill>
                            <a:srgbClr val="14121F"/>
                          </a:solidFill>
                        </a:rPr>
                        <a:t>№4</a:t>
                      </a:r>
                      <a:endParaRPr lang="ru-RU" sz="1400" noProof="0" dirty="0"/>
                    </a:p>
                  </a:txBody>
                  <a:tcPr anchor="ctr">
                    <a:lnL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noProof="0" dirty="0">
                          <a:solidFill>
                            <a:srgbClr val="14121F"/>
                          </a:solidFill>
                        </a:rPr>
                        <a:t>2014</a:t>
                      </a:r>
                      <a:endParaRPr lang="ru-RU" sz="1400" noProof="0" dirty="0"/>
                    </a:p>
                  </a:txBody>
                  <a:tcPr anchor="ctr">
                    <a:lnL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noProof="0" dirty="0">
                          <a:solidFill>
                            <a:srgbClr val="14121F"/>
                          </a:solidFill>
                        </a:rPr>
                        <a:t>120 000</a:t>
                      </a:r>
                      <a:endParaRPr lang="ru-RU" sz="1400" noProof="0" dirty="0"/>
                    </a:p>
                  </a:txBody>
                  <a:tcPr anchor="ctr">
                    <a:lnL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noProof="0" dirty="0">
                          <a:solidFill>
                            <a:srgbClr val="14121F"/>
                          </a:solidFill>
                        </a:rPr>
                        <a:t>7,2</a:t>
                      </a:r>
                      <a:endParaRPr lang="ru-RU" sz="1400" noProof="0" dirty="0"/>
                    </a:p>
                  </a:txBody>
                  <a:tcPr anchor="ctr">
                    <a:lnL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noProof="0" dirty="0"/>
                        <a:t>?</a:t>
                      </a:r>
                      <a:endParaRPr lang="ru-RU" sz="1400" noProof="0" dirty="0"/>
                    </a:p>
                  </a:txBody>
                  <a:tcPr anchor="ctr">
                    <a:lnL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pill-177"/>
          <p:cNvSpPr/>
          <p:nvPr/>
        </p:nvSpPr>
        <p:spPr>
          <a:xfrm>
            <a:off x="457200" y="3886200"/>
            <a:ext cx="1920240" cy="50292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5" name="text-178"/>
          <p:cNvSpPr txBox="1"/>
          <p:nvPr/>
        </p:nvSpPr>
        <p:spPr>
          <a:xfrm>
            <a:off x="457200" y="3886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b="1" noProof="0" dirty="0">
                <a:solidFill>
                  <a:schemeClr val="tx1"/>
                </a:solidFill>
              </a:rPr>
              <a:t>строка = объект</a:t>
            </a:r>
            <a:endParaRPr lang="ru-RU" sz="1400" noProof="0" dirty="0"/>
          </a:p>
        </p:txBody>
      </p:sp>
      <p:sp>
        <p:nvSpPr>
          <p:cNvPr id="6" name="pill-179"/>
          <p:cNvSpPr/>
          <p:nvPr/>
        </p:nvSpPr>
        <p:spPr>
          <a:xfrm>
            <a:off x="2514600" y="388620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7" name="text-180"/>
          <p:cNvSpPr txBox="1"/>
          <p:nvPr/>
        </p:nvSpPr>
        <p:spPr>
          <a:xfrm>
            <a:off x="2514600" y="3886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b="1" noProof="0" dirty="0">
                <a:solidFill>
                  <a:schemeClr val="tx1"/>
                </a:solidFill>
              </a:rPr>
              <a:t>столбцы = признаки</a:t>
            </a:r>
            <a:endParaRPr lang="ru-RU" sz="1400" noProof="0" dirty="0"/>
          </a:p>
        </p:txBody>
      </p:sp>
      <p:sp>
        <p:nvSpPr>
          <p:cNvPr id="8" name="pill-181"/>
          <p:cNvSpPr/>
          <p:nvPr/>
        </p:nvSpPr>
        <p:spPr>
          <a:xfrm>
            <a:off x="4937760" y="3886200"/>
            <a:ext cx="3657600" cy="50292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9" name="text-182"/>
          <p:cNvSpPr txBox="1"/>
          <p:nvPr/>
        </p:nvSpPr>
        <p:spPr>
          <a:xfrm>
            <a:off x="4937760" y="3886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b="1" noProof="0" dirty="0">
                <a:solidFill>
                  <a:schemeClr val="tx1"/>
                </a:solidFill>
              </a:rPr>
              <a:t>последний столбец = целевая переменная</a:t>
            </a:r>
            <a:endParaRPr lang="ru-RU" sz="14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18</a:t>
            </a:fld>
            <a:endParaRPr lang="ru-RU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22B378-71B7-C9DF-296E-7B7E85B1B4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  <p:sp>
        <p:nvSpPr>
          <p:cNvPr id="13" name="text-350">
            <a:extLst>
              <a:ext uri="{FF2B5EF4-FFF2-40B4-BE49-F238E27FC236}">
                <a16:creationId xmlns:a16="http://schemas.microsoft.com/office/drawing/2014/main" id="{A768DB99-2172-33E4-5A2F-7BAA9F823D16}"/>
              </a:ext>
            </a:extLst>
          </p:cNvPr>
          <p:cNvSpPr txBox="1"/>
          <p:nvPr/>
        </p:nvSpPr>
        <p:spPr>
          <a:xfrm>
            <a:off x="5203767" y="4538749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1200" noProof="0" dirty="0">
                <a:solidFill>
                  <a:schemeClr val="accent6"/>
                </a:solidFill>
              </a:rPr>
              <a:t>Ноутбук с примерами:</a:t>
            </a:r>
            <a:endParaRPr lang="ru-RU" sz="1200" noProof="0" dirty="0"/>
          </a:p>
          <a:p>
            <a:pPr marL="0" indent="0" algn="r">
              <a:buNone/>
            </a:pPr>
            <a:r>
              <a:rPr lang="ru-RU" sz="1200" noProof="0" dirty="0">
                <a:solidFill>
                  <a:schemeClr val="accent6"/>
                </a:solidFill>
              </a:rPr>
              <a:t>Lection_1_Practice.ipynb</a:t>
            </a:r>
            <a:endParaRPr lang="ru-RU" sz="1200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600" b="1" noProof="0" dirty="0">
                <a:solidFill>
                  <a:schemeClr val="tx1"/>
                </a:solidFill>
              </a:rPr>
              <a:t>Учебник и экзамен</a:t>
            </a:r>
            <a:endParaRPr lang="ru-RU" sz="3600" noProof="0" dirty="0"/>
          </a:p>
        </p:txBody>
      </p:sp>
      <p:sp>
        <p:nvSpPr>
          <p:cNvPr id="3" name="bar-train-183"/>
          <p:cNvSpPr/>
          <p:nvPr/>
        </p:nvSpPr>
        <p:spPr>
          <a:xfrm>
            <a:off x="457200" y="1280160"/>
            <a:ext cx="6583680" cy="86868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4" name="bar-test-184"/>
          <p:cNvSpPr/>
          <p:nvPr/>
        </p:nvSpPr>
        <p:spPr>
          <a:xfrm>
            <a:off x="7040880" y="1280160"/>
            <a:ext cx="1645920" cy="86868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5" name="text-185"/>
          <p:cNvSpPr txBox="1"/>
          <p:nvPr/>
        </p:nvSpPr>
        <p:spPr>
          <a:xfrm>
            <a:off x="457200" y="128016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000" b="1" noProof="0" dirty="0">
                <a:solidFill>
                  <a:schemeClr val="tx1"/>
                </a:solidFill>
              </a:rPr>
              <a:t>80% · обучающая выборка</a:t>
            </a:r>
            <a:endParaRPr lang="ru-RU" sz="2000" noProof="0" dirty="0"/>
          </a:p>
        </p:txBody>
      </p:sp>
      <p:sp>
        <p:nvSpPr>
          <p:cNvPr id="6" name="text-186"/>
          <p:cNvSpPr txBox="1"/>
          <p:nvPr/>
        </p:nvSpPr>
        <p:spPr>
          <a:xfrm>
            <a:off x="7040880" y="12801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800" b="1" noProof="0" dirty="0">
                <a:solidFill>
                  <a:schemeClr val="tx1"/>
                </a:solidFill>
              </a:rPr>
              <a:t>20% · тест</a:t>
            </a:r>
            <a:endParaRPr lang="ru-RU" sz="1800" noProof="0" dirty="0"/>
          </a:p>
        </p:txBody>
      </p:sp>
      <p:sp>
        <p:nvSpPr>
          <p:cNvPr id="7" name="card-187"/>
          <p:cNvSpPr/>
          <p:nvPr/>
        </p:nvSpPr>
        <p:spPr>
          <a:xfrm>
            <a:off x="457200" y="246888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8" name="text-188"/>
          <p:cNvSpPr txBox="1"/>
          <p:nvPr/>
        </p:nvSpPr>
        <p:spPr>
          <a:xfrm>
            <a:off x="685800" y="2606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800" b="1" noProof="0" dirty="0">
                <a:solidFill>
                  <a:schemeClr val="tx1"/>
                </a:solidFill>
              </a:rPr>
              <a:t>Учебник</a:t>
            </a:r>
            <a:endParaRPr lang="ru-RU" sz="1800" noProof="0" dirty="0"/>
          </a:p>
        </p:txBody>
      </p:sp>
      <p:sp>
        <p:nvSpPr>
          <p:cNvPr id="9" name="text-189"/>
          <p:cNvSpPr txBox="1"/>
          <p:nvPr/>
        </p:nvSpPr>
        <p:spPr>
          <a:xfrm>
            <a:off x="685800" y="3017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noProof="0" dirty="0">
                <a:solidFill>
                  <a:schemeClr val="tx2"/>
                </a:solidFill>
              </a:rPr>
              <a:t>Модель учится на этих данных</a:t>
            </a:r>
            <a:endParaRPr lang="ru-RU" sz="1400" noProof="0" dirty="0"/>
          </a:p>
        </p:txBody>
      </p:sp>
      <p:sp>
        <p:nvSpPr>
          <p:cNvPr id="10" name="card-190"/>
          <p:cNvSpPr/>
          <p:nvPr/>
        </p:nvSpPr>
        <p:spPr>
          <a:xfrm>
            <a:off x="4663440" y="246888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1" name="text-191"/>
          <p:cNvSpPr txBox="1"/>
          <p:nvPr/>
        </p:nvSpPr>
        <p:spPr>
          <a:xfrm>
            <a:off x="4892040" y="2606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800" b="1" noProof="0" dirty="0">
                <a:solidFill>
                  <a:schemeClr val="tx1"/>
                </a:solidFill>
              </a:rPr>
              <a:t>Экзамен</a:t>
            </a:r>
            <a:endParaRPr lang="ru-RU" sz="1800" noProof="0" dirty="0"/>
          </a:p>
        </p:txBody>
      </p:sp>
      <p:sp>
        <p:nvSpPr>
          <p:cNvPr id="12" name="text-192"/>
          <p:cNvSpPr txBox="1"/>
          <p:nvPr/>
        </p:nvSpPr>
        <p:spPr>
          <a:xfrm>
            <a:off x="4892040" y="3017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noProof="0" dirty="0">
                <a:solidFill>
                  <a:schemeClr val="tx2"/>
                </a:solidFill>
              </a:rPr>
              <a:t>Проверяем на данных, которых модель не видела</a:t>
            </a:r>
            <a:endParaRPr lang="ru-RU" sz="1400" noProof="0" dirty="0"/>
          </a:p>
        </p:txBody>
      </p:sp>
      <p:sp>
        <p:nvSpPr>
          <p:cNvPr id="13" name="card-193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14121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4" name="text-194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600" b="1" noProof="0" dirty="0">
                <a:solidFill>
                  <a:schemeClr val="bg1"/>
                </a:solidFill>
              </a:rPr>
              <a:t>Мусор на входе — мусор на выходе: модель выучит ошибки и перекосы в данных</a:t>
            </a:r>
            <a:endParaRPr lang="ru-RU" sz="16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19</a:t>
            </a:fld>
            <a:endParaRPr lang="ru-RU" noProof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4ED754-85DD-085A-42E6-F6801553BF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  <p:sp>
        <p:nvSpPr>
          <p:cNvPr id="16" name="text-350">
            <a:extLst>
              <a:ext uri="{FF2B5EF4-FFF2-40B4-BE49-F238E27FC236}">
                <a16:creationId xmlns:a16="http://schemas.microsoft.com/office/drawing/2014/main" id="{CF51B319-E167-BB17-25C2-49A0E504E923}"/>
              </a:ext>
            </a:extLst>
          </p:cNvPr>
          <p:cNvSpPr txBox="1"/>
          <p:nvPr/>
        </p:nvSpPr>
        <p:spPr>
          <a:xfrm>
            <a:off x="5120640" y="4657205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1200" noProof="0" dirty="0">
                <a:solidFill>
                  <a:schemeClr val="accent6"/>
                </a:solidFill>
              </a:rPr>
              <a:t>Ноутбук с примерами:</a:t>
            </a:r>
            <a:endParaRPr lang="ru-RU" sz="1200" noProof="0" dirty="0"/>
          </a:p>
          <a:p>
            <a:pPr marL="0" indent="0" algn="r">
              <a:buNone/>
            </a:pPr>
            <a:r>
              <a:rPr lang="ru-RU" sz="1200" noProof="0" dirty="0">
                <a:solidFill>
                  <a:schemeClr val="accent6"/>
                </a:solidFill>
              </a:rPr>
              <a:t>Lection_1_Practice.ipynb</a:t>
            </a:r>
            <a:endParaRPr lang="ru-RU" sz="1200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600" b="1" noProof="0" dirty="0">
                <a:solidFill>
                  <a:schemeClr val="tx1"/>
                </a:solidFill>
              </a:rPr>
              <a:t>Три типа обучения</a:t>
            </a:r>
            <a:endParaRPr lang="ru-RU" sz="3600" noProof="0" dirty="0"/>
          </a:p>
        </p:txBody>
      </p:sp>
      <p:sp>
        <p:nvSpPr>
          <p:cNvPr id="3" name="card-195"/>
          <p:cNvSpPr/>
          <p:nvPr/>
        </p:nvSpPr>
        <p:spPr>
          <a:xfrm>
            <a:off x="457200" y="128016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4" name="icon-bg-196"/>
          <p:cNvSpPr/>
          <p:nvPr/>
        </p:nvSpPr>
        <p:spPr>
          <a:xfrm>
            <a:off x="685800" y="1508760"/>
            <a:ext cx="731520" cy="731520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pic>
        <p:nvPicPr>
          <p:cNvPr id="5" name="icon-197" descr="FaUserGradua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365760" cy="365760"/>
          </a:xfrm>
          <a:prstGeom prst="rect">
            <a:avLst/>
          </a:prstGeom>
        </p:spPr>
      </p:pic>
      <p:sp>
        <p:nvSpPr>
          <p:cNvPr id="6" name="text-198"/>
          <p:cNvSpPr txBox="1"/>
          <p:nvPr/>
        </p:nvSpPr>
        <p:spPr>
          <a:xfrm>
            <a:off x="68580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000" b="1" noProof="0" dirty="0">
                <a:solidFill>
                  <a:schemeClr val="tx1"/>
                </a:solidFill>
              </a:rPr>
              <a:t>С учителем</a:t>
            </a:r>
            <a:endParaRPr lang="ru-RU" sz="2000" noProof="0" dirty="0"/>
          </a:p>
        </p:txBody>
      </p:sp>
      <p:sp>
        <p:nvSpPr>
          <p:cNvPr id="7" name="text-199"/>
          <p:cNvSpPr txBox="1"/>
          <p:nvPr/>
        </p:nvSpPr>
        <p:spPr>
          <a:xfrm>
            <a:off x="685800" y="2834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600" noProof="0" dirty="0">
                <a:solidFill>
                  <a:schemeClr val="tx1"/>
                </a:solidFill>
              </a:rPr>
              <a:t>Есть правильные ответы</a:t>
            </a:r>
            <a:endParaRPr lang="ru-RU" sz="1600" noProof="0" dirty="0"/>
          </a:p>
        </p:txBody>
      </p:sp>
      <p:sp>
        <p:nvSpPr>
          <p:cNvPr id="8" name="text-200"/>
          <p:cNvSpPr txBox="1"/>
          <p:nvPr/>
        </p:nvSpPr>
        <p:spPr>
          <a:xfrm>
            <a:off x="685800" y="3657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100" b="1" noProof="0" dirty="0">
                <a:solidFill>
                  <a:schemeClr val="tx2"/>
                </a:solidFill>
              </a:rPr>
              <a:t>ПРИМЕР</a:t>
            </a:r>
            <a:endParaRPr lang="ru-RU" sz="1100" noProof="0" dirty="0"/>
          </a:p>
        </p:txBody>
      </p:sp>
      <p:sp>
        <p:nvSpPr>
          <p:cNvPr id="9" name="text-201"/>
          <p:cNvSpPr txBox="1"/>
          <p:nvPr/>
        </p:nvSpPr>
        <p:spPr>
          <a:xfrm>
            <a:off x="685800" y="3886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b="1" noProof="0" dirty="0">
                <a:solidFill>
                  <a:schemeClr val="tx1"/>
                </a:solidFill>
              </a:rPr>
              <a:t>Фото → «яблоко»</a:t>
            </a:r>
            <a:endParaRPr lang="ru-RU" sz="1400" noProof="0" dirty="0"/>
          </a:p>
        </p:txBody>
      </p:sp>
      <p:sp>
        <p:nvSpPr>
          <p:cNvPr id="10" name="card-202"/>
          <p:cNvSpPr/>
          <p:nvPr/>
        </p:nvSpPr>
        <p:spPr>
          <a:xfrm>
            <a:off x="3291840" y="128016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1" name="icon-bg-203"/>
          <p:cNvSpPr/>
          <p:nvPr/>
        </p:nvSpPr>
        <p:spPr>
          <a:xfrm>
            <a:off x="3520440" y="1508760"/>
            <a:ext cx="731520" cy="731520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pic>
        <p:nvPicPr>
          <p:cNvPr id="12" name="icon-204" descr="FaObjectGrou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691640"/>
            <a:ext cx="365760" cy="365760"/>
          </a:xfrm>
          <a:prstGeom prst="rect">
            <a:avLst/>
          </a:prstGeom>
        </p:spPr>
      </p:pic>
      <p:sp>
        <p:nvSpPr>
          <p:cNvPr id="13" name="text-205"/>
          <p:cNvSpPr txBox="1"/>
          <p:nvPr/>
        </p:nvSpPr>
        <p:spPr>
          <a:xfrm>
            <a:off x="352044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000" b="1" noProof="0" dirty="0">
                <a:solidFill>
                  <a:schemeClr val="tx1"/>
                </a:solidFill>
              </a:rPr>
              <a:t>Без учителя</a:t>
            </a:r>
            <a:endParaRPr lang="ru-RU" sz="2000" noProof="0" dirty="0"/>
          </a:p>
        </p:txBody>
      </p:sp>
      <p:sp>
        <p:nvSpPr>
          <p:cNvPr id="14" name="text-206"/>
          <p:cNvSpPr txBox="1"/>
          <p:nvPr/>
        </p:nvSpPr>
        <p:spPr>
          <a:xfrm>
            <a:off x="3520440" y="2834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600" noProof="0" dirty="0">
                <a:solidFill>
                  <a:schemeClr val="tx1"/>
                </a:solidFill>
              </a:rPr>
              <a:t>Ответов нет, ищем структуру</a:t>
            </a:r>
            <a:endParaRPr lang="ru-RU" sz="1600" noProof="0" dirty="0"/>
          </a:p>
        </p:txBody>
      </p:sp>
      <p:sp>
        <p:nvSpPr>
          <p:cNvPr id="15" name="text-207"/>
          <p:cNvSpPr txBox="1"/>
          <p:nvPr/>
        </p:nvSpPr>
        <p:spPr>
          <a:xfrm>
            <a:off x="3520440" y="3657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100" b="1" noProof="0" dirty="0">
                <a:solidFill>
                  <a:schemeClr val="tx2"/>
                </a:solidFill>
              </a:rPr>
              <a:t>ПРИМЕР</a:t>
            </a:r>
            <a:endParaRPr lang="ru-RU" sz="1100" noProof="0" dirty="0"/>
          </a:p>
        </p:txBody>
      </p:sp>
      <p:sp>
        <p:nvSpPr>
          <p:cNvPr id="16" name="text-208"/>
          <p:cNvSpPr txBox="1"/>
          <p:nvPr/>
        </p:nvSpPr>
        <p:spPr>
          <a:xfrm>
            <a:off x="3520440" y="3886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b="1" noProof="0" dirty="0">
                <a:solidFill>
                  <a:schemeClr val="tx1"/>
                </a:solidFill>
              </a:rPr>
              <a:t>Группы покупателей</a:t>
            </a:r>
            <a:endParaRPr lang="ru-RU" sz="1400" noProof="0" dirty="0"/>
          </a:p>
        </p:txBody>
      </p:sp>
      <p:sp>
        <p:nvSpPr>
          <p:cNvPr id="17" name="card-209"/>
          <p:cNvSpPr/>
          <p:nvPr/>
        </p:nvSpPr>
        <p:spPr>
          <a:xfrm>
            <a:off x="6126480" y="128016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8" name="icon-bg-210"/>
          <p:cNvSpPr/>
          <p:nvPr/>
        </p:nvSpPr>
        <p:spPr>
          <a:xfrm>
            <a:off x="6355080" y="1508760"/>
            <a:ext cx="731520" cy="731520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pic>
        <p:nvPicPr>
          <p:cNvPr id="19" name="icon-211" descr="FaGamepa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691640"/>
            <a:ext cx="365760" cy="365760"/>
          </a:xfrm>
          <a:prstGeom prst="rect">
            <a:avLst/>
          </a:prstGeom>
        </p:spPr>
      </p:pic>
      <p:sp>
        <p:nvSpPr>
          <p:cNvPr id="20" name="text-212"/>
          <p:cNvSpPr txBox="1"/>
          <p:nvPr/>
        </p:nvSpPr>
        <p:spPr>
          <a:xfrm>
            <a:off x="635508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000" b="1" noProof="0" dirty="0">
                <a:solidFill>
                  <a:schemeClr val="tx1"/>
                </a:solidFill>
              </a:rPr>
              <a:t>С подкреплением</a:t>
            </a:r>
            <a:endParaRPr lang="ru-RU" sz="2000" noProof="0" dirty="0"/>
          </a:p>
        </p:txBody>
      </p:sp>
      <p:sp>
        <p:nvSpPr>
          <p:cNvPr id="21" name="text-213"/>
          <p:cNvSpPr txBox="1"/>
          <p:nvPr/>
        </p:nvSpPr>
        <p:spPr>
          <a:xfrm>
            <a:off x="6355080" y="2834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600" noProof="0" dirty="0">
                <a:solidFill>
                  <a:schemeClr val="tx1"/>
                </a:solidFill>
              </a:rPr>
              <a:t>Агент действует и получает награду</a:t>
            </a:r>
            <a:endParaRPr lang="ru-RU" sz="1600" noProof="0" dirty="0"/>
          </a:p>
        </p:txBody>
      </p:sp>
      <p:sp>
        <p:nvSpPr>
          <p:cNvPr id="22" name="text-214"/>
          <p:cNvSpPr txBox="1"/>
          <p:nvPr/>
        </p:nvSpPr>
        <p:spPr>
          <a:xfrm>
            <a:off x="6355080" y="3657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100" b="1" noProof="0" dirty="0">
                <a:solidFill>
                  <a:schemeClr val="tx2"/>
                </a:solidFill>
              </a:rPr>
              <a:t>ПРИМЕР</a:t>
            </a:r>
            <a:endParaRPr lang="ru-RU" sz="1100" noProof="0" dirty="0"/>
          </a:p>
        </p:txBody>
      </p:sp>
      <p:sp>
        <p:nvSpPr>
          <p:cNvPr id="23" name="text-215"/>
          <p:cNvSpPr txBox="1"/>
          <p:nvPr/>
        </p:nvSpPr>
        <p:spPr>
          <a:xfrm>
            <a:off x="6355080" y="3886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b="1" noProof="0" dirty="0">
                <a:solidFill>
                  <a:schemeClr val="tx1"/>
                </a:solidFill>
              </a:rPr>
              <a:t>Робот, </a:t>
            </a:r>
            <a:r>
              <a:rPr lang="ru-RU" sz="1400" b="1" noProof="0" dirty="0" err="1">
                <a:solidFill>
                  <a:schemeClr val="tx1"/>
                </a:solidFill>
              </a:rPr>
              <a:t>AlphaGo</a:t>
            </a:r>
            <a:endParaRPr lang="ru-RU" sz="14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20</a:t>
            </a:fld>
            <a:endParaRPr lang="ru-RU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F6C087A-8E31-424D-AA52-59CFB97383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  <p:sp>
        <p:nvSpPr>
          <p:cNvPr id="26" name="text-350">
            <a:extLst>
              <a:ext uri="{FF2B5EF4-FFF2-40B4-BE49-F238E27FC236}">
                <a16:creationId xmlns:a16="http://schemas.microsoft.com/office/drawing/2014/main" id="{FBCEE7DC-4546-465C-CBA2-B983F7A26402}"/>
              </a:ext>
            </a:extLst>
          </p:cNvPr>
          <p:cNvSpPr txBox="1"/>
          <p:nvPr/>
        </p:nvSpPr>
        <p:spPr>
          <a:xfrm>
            <a:off x="5120640" y="4657205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1200" noProof="0" dirty="0">
                <a:solidFill>
                  <a:schemeClr val="accent6"/>
                </a:solidFill>
              </a:rPr>
              <a:t>Ноутбук с примерами:</a:t>
            </a:r>
            <a:endParaRPr lang="ru-RU" sz="1200" noProof="0" dirty="0"/>
          </a:p>
          <a:p>
            <a:pPr marL="0" indent="0" algn="r">
              <a:buNone/>
            </a:pPr>
            <a:r>
              <a:rPr lang="ru-RU" sz="1200" noProof="0" dirty="0">
                <a:solidFill>
                  <a:schemeClr val="accent6"/>
                </a:solidFill>
              </a:rPr>
              <a:t>Lection_1_Practice.ipynb</a:t>
            </a:r>
            <a:endParaRPr lang="ru-RU" sz="1200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600" b="1" noProof="0" dirty="0">
                <a:solidFill>
                  <a:schemeClr val="tx1"/>
                </a:solidFill>
              </a:rPr>
              <a:t>Обучение с учителем</a:t>
            </a:r>
            <a:endParaRPr lang="ru-RU" sz="3600" noProof="0" dirty="0"/>
          </a:p>
        </p:txBody>
      </p:sp>
      <p:sp>
        <p:nvSpPr>
          <p:cNvPr id="3" name="card-216"/>
          <p:cNvSpPr/>
          <p:nvPr/>
        </p:nvSpPr>
        <p:spPr>
          <a:xfrm>
            <a:off x="457200" y="1234440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4" name="text-217"/>
          <p:cNvSpPr txBox="1"/>
          <p:nvPr/>
        </p:nvSpPr>
        <p:spPr>
          <a:xfrm>
            <a:off x="68580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200" b="1" noProof="0" dirty="0">
                <a:solidFill>
                  <a:schemeClr val="tx1"/>
                </a:solidFill>
              </a:rPr>
              <a:t>Классификация</a:t>
            </a:r>
            <a:endParaRPr lang="ru-RU" sz="2200" noProof="0" dirty="0"/>
          </a:p>
        </p:txBody>
      </p:sp>
      <p:sp>
        <p:nvSpPr>
          <p:cNvPr id="5" name="text-218"/>
          <p:cNvSpPr txBox="1"/>
          <p:nvPr/>
        </p:nvSpPr>
        <p:spPr>
          <a:xfrm>
            <a:off x="685800" y="1810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600" noProof="0" dirty="0">
                <a:solidFill>
                  <a:schemeClr val="tx2"/>
                </a:solidFill>
              </a:rPr>
              <a:t>Ответ — категория</a:t>
            </a:r>
            <a:endParaRPr lang="ru-RU" sz="1600" noProof="0" dirty="0"/>
          </a:p>
        </p:txBody>
      </p:sp>
      <p:sp>
        <p:nvSpPr>
          <p:cNvPr id="6" name="text-219"/>
          <p:cNvSpPr txBox="1"/>
          <p:nvPr/>
        </p:nvSpPr>
        <p:spPr>
          <a:xfrm>
            <a:off x="685800" y="3749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b="1" noProof="0" dirty="0">
                <a:solidFill>
                  <a:schemeClr val="tx1"/>
                </a:solidFill>
              </a:rPr>
              <a:t>«спам» / «не спам» · «яблоко» / «не яблоко»</a:t>
            </a:r>
            <a:endParaRPr lang="ru-RU" sz="1400" noProof="0" dirty="0"/>
          </a:p>
        </p:txBody>
      </p:sp>
      <p:sp>
        <p:nvSpPr>
          <p:cNvPr id="7" name="card-220"/>
          <p:cNvSpPr/>
          <p:nvPr/>
        </p:nvSpPr>
        <p:spPr>
          <a:xfrm>
            <a:off x="4663440" y="1234440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8" name="text-221"/>
          <p:cNvSpPr txBox="1"/>
          <p:nvPr/>
        </p:nvSpPr>
        <p:spPr>
          <a:xfrm>
            <a:off x="489204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200" b="1" noProof="0" dirty="0">
                <a:solidFill>
                  <a:schemeClr val="tx1"/>
                </a:solidFill>
              </a:rPr>
              <a:t>Регрессия</a:t>
            </a:r>
            <a:endParaRPr lang="ru-RU" sz="2200" noProof="0" dirty="0"/>
          </a:p>
        </p:txBody>
      </p:sp>
      <p:sp>
        <p:nvSpPr>
          <p:cNvPr id="9" name="text-222"/>
          <p:cNvSpPr txBox="1"/>
          <p:nvPr/>
        </p:nvSpPr>
        <p:spPr>
          <a:xfrm>
            <a:off x="4892040" y="1810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600" noProof="0" dirty="0">
                <a:solidFill>
                  <a:schemeClr val="tx2"/>
                </a:solidFill>
              </a:rPr>
              <a:t>Ответ — число</a:t>
            </a:r>
            <a:endParaRPr lang="ru-RU" sz="1600" noProof="0" dirty="0"/>
          </a:p>
        </p:txBody>
      </p:sp>
      <p:sp>
        <p:nvSpPr>
          <p:cNvPr id="10" name="text-223"/>
          <p:cNvSpPr txBox="1"/>
          <p:nvPr/>
        </p:nvSpPr>
        <p:spPr>
          <a:xfrm>
            <a:off x="4892040" y="3749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b="1" noProof="0" dirty="0">
                <a:solidFill>
                  <a:schemeClr val="tx1"/>
                </a:solidFill>
              </a:rPr>
              <a:t>цена автомобиля · температура завтра</a:t>
            </a:r>
            <a:endParaRPr lang="ru-RU" sz="1400" noProof="0" dirty="0"/>
          </a:p>
        </p:txBody>
      </p:sp>
      <p:sp>
        <p:nvSpPr>
          <p:cNvPr id="11" name="dot-224"/>
          <p:cNvSpPr/>
          <p:nvPr/>
        </p:nvSpPr>
        <p:spPr>
          <a:xfrm>
            <a:off x="896112" y="2450592"/>
            <a:ext cx="219456" cy="219456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dot-225"/>
          <p:cNvSpPr/>
          <p:nvPr/>
        </p:nvSpPr>
        <p:spPr>
          <a:xfrm>
            <a:off x="1353312" y="2816352"/>
            <a:ext cx="219456" cy="219456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3" name="dot-226"/>
          <p:cNvSpPr/>
          <p:nvPr/>
        </p:nvSpPr>
        <p:spPr>
          <a:xfrm>
            <a:off x="1078992" y="3182112"/>
            <a:ext cx="219456" cy="219456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4" name="dot-227"/>
          <p:cNvSpPr/>
          <p:nvPr/>
        </p:nvSpPr>
        <p:spPr>
          <a:xfrm>
            <a:off x="1627632" y="2542032"/>
            <a:ext cx="219456" cy="219456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5" name="dot-228"/>
          <p:cNvSpPr/>
          <p:nvPr/>
        </p:nvSpPr>
        <p:spPr>
          <a:xfrm>
            <a:off x="1810512" y="3090672"/>
            <a:ext cx="219456" cy="219456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6" name="dot-229"/>
          <p:cNvSpPr/>
          <p:nvPr/>
        </p:nvSpPr>
        <p:spPr>
          <a:xfrm>
            <a:off x="2907792" y="2542032"/>
            <a:ext cx="219456" cy="219456"/>
          </a:xfrm>
          <a:prstGeom prst="ellipse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7" name="dot-230"/>
          <p:cNvSpPr/>
          <p:nvPr/>
        </p:nvSpPr>
        <p:spPr>
          <a:xfrm>
            <a:off x="3364992" y="2999232"/>
            <a:ext cx="219456" cy="219456"/>
          </a:xfrm>
          <a:prstGeom prst="ellipse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8" name="dot-231"/>
          <p:cNvSpPr/>
          <p:nvPr/>
        </p:nvSpPr>
        <p:spPr>
          <a:xfrm>
            <a:off x="3090672" y="3273552"/>
            <a:ext cx="219456" cy="219456"/>
          </a:xfrm>
          <a:prstGeom prst="ellipse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9" name="dot-232"/>
          <p:cNvSpPr/>
          <p:nvPr/>
        </p:nvSpPr>
        <p:spPr>
          <a:xfrm>
            <a:off x="3639312" y="2633472"/>
            <a:ext cx="219456" cy="219456"/>
          </a:xfrm>
          <a:prstGeom prst="ellipse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20" name="dot-233"/>
          <p:cNvSpPr/>
          <p:nvPr/>
        </p:nvSpPr>
        <p:spPr>
          <a:xfrm>
            <a:off x="3822192" y="3182112"/>
            <a:ext cx="219456" cy="219456"/>
          </a:xfrm>
          <a:prstGeom prst="ellipse">
            <a:avLst/>
          </a:prstGeom>
          <a:solidFill>
            <a:srgbClr val="F5A524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21" name="line-234"/>
          <p:cNvSpPr/>
          <p:nvPr/>
        </p:nvSpPr>
        <p:spPr>
          <a:xfrm>
            <a:off x="2468880" y="2286000"/>
            <a:ext cx="0" cy="1371600"/>
          </a:xfrm>
          <a:prstGeom prst="line">
            <a:avLst/>
          </a:prstGeom>
          <a:noFill/>
          <a:ln w="19050">
            <a:solidFill>
              <a:srgbClr val="5B6070"/>
            </a:solidFill>
            <a:prstDash val="dash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2" name="line-235"/>
          <p:cNvSpPr/>
          <p:nvPr/>
        </p:nvSpPr>
        <p:spPr>
          <a:xfrm flipV="1">
            <a:off x="5120640" y="2423160"/>
            <a:ext cx="3200400" cy="1005840"/>
          </a:xfrm>
          <a:prstGeom prst="line">
            <a:avLst/>
          </a:prstGeom>
          <a:noFill/>
          <a:ln w="254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3" name="dot-236"/>
          <p:cNvSpPr/>
          <p:nvPr/>
        </p:nvSpPr>
        <p:spPr>
          <a:xfrm>
            <a:off x="5102352" y="3273552"/>
            <a:ext cx="219456" cy="219456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24" name="dot-237"/>
          <p:cNvSpPr/>
          <p:nvPr/>
        </p:nvSpPr>
        <p:spPr>
          <a:xfrm>
            <a:off x="5650992" y="2999232"/>
            <a:ext cx="219456" cy="219456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25" name="dot-238"/>
          <p:cNvSpPr/>
          <p:nvPr/>
        </p:nvSpPr>
        <p:spPr>
          <a:xfrm>
            <a:off x="6108192" y="3136392"/>
            <a:ext cx="219456" cy="219456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26" name="dot-239"/>
          <p:cNvSpPr/>
          <p:nvPr/>
        </p:nvSpPr>
        <p:spPr>
          <a:xfrm>
            <a:off x="6656832" y="2816352"/>
            <a:ext cx="219456" cy="219456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27" name="dot-240"/>
          <p:cNvSpPr/>
          <p:nvPr/>
        </p:nvSpPr>
        <p:spPr>
          <a:xfrm>
            <a:off x="7114032" y="2724912"/>
            <a:ext cx="219456" cy="219456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28" name="dot-241"/>
          <p:cNvSpPr/>
          <p:nvPr/>
        </p:nvSpPr>
        <p:spPr>
          <a:xfrm>
            <a:off x="7662672" y="2587752"/>
            <a:ext cx="219456" cy="219456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29" name="dot-242"/>
          <p:cNvSpPr/>
          <p:nvPr/>
        </p:nvSpPr>
        <p:spPr>
          <a:xfrm>
            <a:off x="8119872" y="2359152"/>
            <a:ext cx="219456" cy="219456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21</a:t>
            </a:fld>
            <a:endParaRPr lang="ru-RU" noProof="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50F0BD2-E771-150B-9178-77E4E30E8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  <p:sp>
        <p:nvSpPr>
          <p:cNvPr id="32" name="text-350">
            <a:extLst>
              <a:ext uri="{FF2B5EF4-FFF2-40B4-BE49-F238E27FC236}">
                <a16:creationId xmlns:a16="http://schemas.microsoft.com/office/drawing/2014/main" id="{8012D241-A6FA-3228-BF6F-74025AC97B37}"/>
              </a:ext>
            </a:extLst>
          </p:cNvPr>
          <p:cNvSpPr txBox="1"/>
          <p:nvPr/>
        </p:nvSpPr>
        <p:spPr>
          <a:xfrm>
            <a:off x="5120640" y="4657205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1200" noProof="0" dirty="0">
                <a:solidFill>
                  <a:schemeClr val="accent6"/>
                </a:solidFill>
              </a:rPr>
              <a:t>Ноутбук с примерами:</a:t>
            </a:r>
            <a:endParaRPr lang="ru-RU" sz="1200" noProof="0" dirty="0"/>
          </a:p>
          <a:p>
            <a:pPr marL="0" indent="0" algn="r">
              <a:buNone/>
            </a:pPr>
            <a:r>
              <a:rPr lang="ru-RU" sz="1200" noProof="0" dirty="0">
                <a:solidFill>
                  <a:schemeClr val="accent6"/>
                </a:solidFill>
              </a:rPr>
              <a:t>Lection_1_Practice.ipynb</a:t>
            </a:r>
            <a:endParaRPr lang="ru-RU" sz="1200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600" b="1">
                <a:solidFill>
                  <a:schemeClr val="tx1"/>
                </a:solidFill>
              </a:rPr>
              <a:t>Обучение без учителя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972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070"/>
                </a:solidFill>
              </a:rPr>
              <a:t>Правильных ответов нет: алгоритм сам ищет структуру в данных</a:t>
            </a:r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4023360" cy="2971800"/>
          </a:xfrm>
          <a:prstGeom prst="roundRect">
            <a:avLst>
              <a:gd name="adj" fmla="val 4307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ard-title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21F"/>
                </a:solidFill>
              </a:rPr>
              <a:t>Кластеризация</a:t>
            </a:r>
          </a:p>
        </p:txBody>
      </p:sp>
      <p:sp>
        <p:nvSpPr>
          <p:cNvPr id="6" name="card-sub"/>
          <p:cNvSpPr txBox="1"/>
          <p:nvPr/>
        </p:nvSpPr>
        <p:spPr>
          <a:xfrm>
            <a:off x="685800" y="21488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B6070"/>
                </a:solidFill>
              </a:rPr>
              <a:t>Находим группы похожих объектов</a:t>
            </a:r>
          </a:p>
        </p:txBody>
      </p:sp>
      <p:sp>
        <p:nvSpPr>
          <p:cNvPr id="7" name="card-example"/>
          <p:cNvSpPr txBox="1"/>
          <p:nvPr/>
        </p:nvSpPr>
        <p:spPr>
          <a:xfrm>
            <a:off x="685800" y="4023360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4121F"/>
                </a:solidFill>
              </a:rPr>
              <a:t>группы покупателей · темы новостей</a:t>
            </a:r>
          </a:p>
        </p:txBody>
      </p:sp>
      <p:sp>
        <p:nvSpPr>
          <p:cNvPr id="8" name="card"/>
          <p:cNvSpPr/>
          <p:nvPr/>
        </p:nvSpPr>
        <p:spPr>
          <a:xfrm>
            <a:off x="4663440" y="1600200"/>
            <a:ext cx="4023360" cy="2971800"/>
          </a:xfrm>
          <a:prstGeom prst="roundRect">
            <a:avLst>
              <a:gd name="adj" fmla="val 4307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rd-title"/>
          <p:cNvSpPr txBox="1"/>
          <p:nvPr/>
        </p:nvSpPr>
        <p:spPr>
          <a:xfrm>
            <a:off x="4892040" y="17373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21F"/>
                </a:solidFill>
              </a:rPr>
              <a:t>Поиск аномалий</a:t>
            </a:r>
          </a:p>
        </p:txBody>
      </p:sp>
      <p:sp>
        <p:nvSpPr>
          <p:cNvPr id="10" name="card-sub"/>
          <p:cNvSpPr txBox="1"/>
          <p:nvPr/>
        </p:nvSpPr>
        <p:spPr>
          <a:xfrm>
            <a:off x="4892040" y="21488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B6070"/>
                </a:solidFill>
              </a:rPr>
              <a:t>Находим то, что не похоже на остальных</a:t>
            </a:r>
          </a:p>
        </p:txBody>
      </p:sp>
      <p:sp>
        <p:nvSpPr>
          <p:cNvPr id="11" name="card-example"/>
          <p:cNvSpPr txBox="1"/>
          <p:nvPr/>
        </p:nvSpPr>
        <p:spPr>
          <a:xfrm>
            <a:off x="4892040" y="4023360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4121F"/>
                </a:solidFill>
              </a:rPr>
              <a:t>подозрительные платежи · сбои оборудования</a:t>
            </a:r>
          </a:p>
        </p:txBody>
      </p:sp>
      <p:sp>
        <p:nvSpPr>
          <p:cNvPr id="12" name="dot"/>
          <p:cNvSpPr/>
          <p:nvPr/>
        </p:nvSpPr>
        <p:spPr>
          <a:xfrm>
            <a:off x="1492119" y="3186468"/>
            <a:ext cx="182880" cy="18288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ot"/>
          <p:cNvSpPr/>
          <p:nvPr/>
        </p:nvSpPr>
        <p:spPr>
          <a:xfrm>
            <a:off x="1290810" y="2900002"/>
            <a:ext cx="182880" cy="18288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ot"/>
          <p:cNvSpPr/>
          <p:nvPr/>
        </p:nvSpPr>
        <p:spPr>
          <a:xfrm>
            <a:off x="970166" y="2953531"/>
            <a:ext cx="182880" cy="18288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ot"/>
          <p:cNvSpPr/>
          <p:nvPr/>
        </p:nvSpPr>
        <p:spPr>
          <a:xfrm>
            <a:off x="1216554" y="2768039"/>
            <a:ext cx="182880" cy="18288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ot"/>
          <p:cNvSpPr/>
          <p:nvPr/>
        </p:nvSpPr>
        <p:spPr>
          <a:xfrm>
            <a:off x="966571" y="3291387"/>
            <a:ext cx="182880" cy="18288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ot"/>
          <p:cNvSpPr/>
          <p:nvPr/>
        </p:nvSpPr>
        <p:spPr>
          <a:xfrm>
            <a:off x="1386047" y="2871861"/>
            <a:ext cx="182880" cy="18288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t"/>
          <p:cNvSpPr/>
          <p:nvPr/>
        </p:nvSpPr>
        <p:spPr>
          <a:xfrm>
            <a:off x="1234952" y="3277677"/>
            <a:ext cx="182880" cy="18288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ot"/>
          <p:cNvSpPr/>
          <p:nvPr/>
        </p:nvSpPr>
        <p:spPr>
          <a:xfrm>
            <a:off x="2653803" y="3755018"/>
            <a:ext cx="182880" cy="182880"/>
          </a:xfrm>
          <a:prstGeom prst="ellipse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ot"/>
          <p:cNvSpPr/>
          <p:nvPr/>
        </p:nvSpPr>
        <p:spPr>
          <a:xfrm>
            <a:off x="2302667" y="3562332"/>
            <a:ext cx="182880" cy="182880"/>
          </a:xfrm>
          <a:prstGeom prst="ellipse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dot"/>
          <p:cNvSpPr/>
          <p:nvPr/>
        </p:nvSpPr>
        <p:spPr>
          <a:xfrm>
            <a:off x="2500229" y="3325198"/>
            <a:ext cx="182880" cy="182880"/>
          </a:xfrm>
          <a:prstGeom prst="ellipse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dot"/>
          <p:cNvSpPr/>
          <p:nvPr/>
        </p:nvSpPr>
        <p:spPr>
          <a:xfrm>
            <a:off x="2416076" y="3440769"/>
            <a:ext cx="182880" cy="182880"/>
          </a:xfrm>
          <a:prstGeom prst="ellipse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dot"/>
          <p:cNvSpPr/>
          <p:nvPr/>
        </p:nvSpPr>
        <p:spPr>
          <a:xfrm>
            <a:off x="2641276" y="3327070"/>
            <a:ext cx="182880" cy="182880"/>
          </a:xfrm>
          <a:prstGeom prst="ellipse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t"/>
          <p:cNvSpPr/>
          <p:nvPr/>
        </p:nvSpPr>
        <p:spPr>
          <a:xfrm>
            <a:off x="2501961" y="3769205"/>
            <a:ext cx="182880" cy="182880"/>
          </a:xfrm>
          <a:prstGeom prst="ellipse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t"/>
          <p:cNvSpPr/>
          <p:nvPr/>
        </p:nvSpPr>
        <p:spPr>
          <a:xfrm>
            <a:off x="2187941" y="3783118"/>
            <a:ext cx="182880" cy="182880"/>
          </a:xfrm>
          <a:prstGeom prst="ellipse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ot"/>
          <p:cNvSpPr/>
          <p:nvPr/>
        </p:nvSpPr>
        <p:spPr>
          <a:xfrm>
            <a:off x="3641935" y="2661919"/>
            <a:ext cx="182880" cy="18288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dot"/>
          <p:cNvSpPr/>
          <p:nvPr/>
        </p:nvSpPr>
        <p:spPr>
          <a:xfrm>
            <a:off x="3527477" y="2652418"/>
            <a:ext cx="182880" cy="18288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dot"/>
          <p:cNvSpPr/>
          <p:nvPr/>
        </p:nvSpPr>
        <p:spPr>
          <a:xfrm>
            <a:off x="3385617" y="2891333"/>
            <a:ext cx="182880" cy="18288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dot"/>
          <p:cNvSpPr/>
          <p:nvPr/>
        </p:nvSpPr>
        <p:spPr>
          <a:xfrm>
            <a:off x="3177057" y="2830036"/>
            <a:ext cx="182880" cy="18288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dot"/>
          <p:cNvSpPr/>
          <p:nvPr/>
        </p:nvSpPr>
        <p:spPr>
          <a:xfrm>
            <a:off x="3596082" y="2825378"/>
            <a:ext cx="182880" cy="18288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dot"/>
          <p:cNvSpPr/>
          <p:nvPr/>
        </p:nvSpPr>
        <p:spPr>
          <a:xfrm>
            <a:off x="3139381" y="3034991"/>
            <a:ext cx="182880" cy="18288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dot"/>
          <p:cNvSpPr/>
          <p:nvPr/>
        </p:nvSpPr>
        <p:spPr>
          <a:xfrm>
            <a:off x="3347521" y="3090090"/>
            <a:ext cx="182880" cy="182880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dot"/>
          <p:cNvSpPr/>
          <p:nvPr/>
        </p:nvSpPr>
        <p:spPr>
          <a:xfrm>
            <a:off x="5806785" y="3052089"/>
            <a:ext cx="182880" cy="18288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dot"/>
          <p:cNvSpPr/>
          <p:nvPr/>
        </p:nvSpPr>
        <p:spPr>
          <a:xfrm>
            <a:off x="6684076" y="3206216"/>
            <a:ext cx="182880" cy="18288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dot"/>
          <p:cNvSpPr/>
          <p:nvPr/>
        </p:nvSpPr>
        <p:spPr>
          <a:xfrm>
            <a:off x="6227845" y="2983298"/>
            <a:ext cx="182880" cy="18288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dot"/>
          <p:cNvSpPr/>
          <p:nvPr/>
        </p:nvSpPr>
        <p:spPr>
          <a:xfrm>
            <a:off x="5463276" y="3556925"/>
            <a:ext cx="182880" cy="18288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dot"/>
          <p:cNvSpPr/>
          <p:nvPr/>
        </p:nvSpPr>
        <p:spPr>
          <a:xfrm>
            <a:off x="5574094" y="3484260"/>
            <a:ext cx="182880" cy="18288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dot"/>
          <p:cNvSpPr/>
          <p:nvPr/>
        </p:nvSpPr>
        <p:spPr>
          <a:xfrm>
            <a:off x="6012543" y="3571573"/>
            <a:ext cx="182880" cy="18288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dot"/>
          <p:cNvSpPr/>
          <p:nvPr/>
        </p:nvSpPr>
        <p:spPr>
          <a:xfrm>
            <a:off x="6061578" y="3559574"/>
            <a:ext cx="182880" cy="18288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dot"/>
          <p:cNvSpPr/>
          <p:nvPr/>
        </p:nvSpPr>
        <p:spPr>
          <a:xfrm>
            <a:off x="6305219" y="2986541"/>
            <a:ext cx="182880" cy="18288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dot"/>
          <p:cNvSpPr/>
          <p:nvPr/>
        </p:nvSpPr>
        <p:spPr>
          <a:xfrm>
            <a:off x="6593205" y="3343915"/>
            <a:ext cx="182880" cy="18288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dot"/>
          <p:cNvSpPr/>
          <p:nvPr/>
        </p:nvSpPr>
        <p:spPr>
          <a:xfrm>
            <a:off x="6504263" y="3170628"/>
            <a:ext cx="182880" cy="18288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dot"/>
          <p:cNvSpPr/>
          <p:nvPr/>
        </p:nvSpPr>
        <p:spPr>
          <a:xfrm>
            <a:off x="5785601" y="3316388"/>
            <a:ext cx="182880" cy="18288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dot"/>
          <p:cNvSpPr/>
          <p:nvPr/>
        </p:nvSpPr>
        <p:spPr>
          <a:xfrm>
            <a:off x="5607148" y="3358591"/>
            <a:ext cx="182880" cy="18288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dot"/>
          <p:cNvSpPr/>
          <p:nvPr/>
        </p:nvSpPr>
        <p:spPr>
          <a:xfrm>
            <a:off x="6428376" y="3098774"/>
            <a:ext cx="182880" cy="18288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dot"/>
          <p:cNvSpPr/>
          <p:nvPr/>
        </p:nvSpPr>
        <p:spPr>
          <a:xfrm>
            <a:off x="6681968" y="2948595"/>
            <a:ext cx="182880" cy="18288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dot"/>
          <p:cNvSpPr/>
          <p:nvPr/>
        </p:nvSpPr>
        <p:spPr>
          <a:xfrm>
            <a:off x="6047640" y="3445587"/>
            <a:ext cx="182880" cy="18288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dot"/>
          <p:cNvSpPr/>
          <p:nvPr/>
        </p:nvSpPr>
        <p:spPr>
          <a:xfrm>
            <a:off x="6032121" y="3375902"/>
            <a:ext cx="182880" cy="18288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dot"/>
          <p:cNvSpPr/>
          <p:nvPr/>
        </p:nvSpPr>
        <p:spPr>
          <a:xfrm>
            <a:off x="7863840" y="2651760"/>
            <a:ext cx="182880" cy="182880"/>
          </a:xfrm>
          <a:prstGeom prst="ellipse">
            <a:avLst/>
          </a:prstGeom>
          <a:solidFill>
            <a:srgbClr val="E54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ing"/>
          <p:cNvSpPr/>
          <p:nvPr/>
        </p:nvSpPr>
        <p:spPr>
          <a:xfrm>
            <a:off x="7754111" y="2542032"/>
            <a:ext cx="402336" cy="402336"/>
          </a:xfrm>
          <a:prstGeom prst="ellipse">
            <a:avLst/>
          </a:prstGeom>
          <a:noFill/>
          <a:ln w="25400">
            <a:solidFill>
              <a:srgbClr val="E54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22</a:t>
            </a:fld>
            <a:endParaRPr lang="ru-RU" noProof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600" b="1">
                <a:solidFill>
                  <a:schemeClr val="tx1"/>
                </a:solidFill>
              </a:rPr>
              <a:t>Обучение с подкреплением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972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B6070"/>
                </a:solidFill>
              </a:rPr>
              <a:t>Агент пробует действия и получает за них награду</a:t>
            </a:r>
          </a:p>
        </p:txBody>
      </p:sp>
      <p:sp>
        <p:nvSpPr>
          <p:cNvPr id="4" name="card"/>
          <p:cNvSpPr/>
          <p:nvPr/>
        </p:nvSpPr>
        <p:spPr>
          <a:xfrm>
            <a:off x="457200" y="1600200"/>
            <a:ext cx="4023360" cy="2514600"/>
          </a:xfrm>
          <a:prstGeom prst="roundRect">
            <a:avLst>
              <a:gd name="adj" fmla="val 5090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ard-title"/>
          <p:cNvSpPr txBox="1"/>
          <p:nvPr/>
        </p:nvSpPr>
        <p:spPr>
          <a:xfrm>
            <a:off x="685800" y="171907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4121F"/>
                </a:solidFill>
              </a:rPr>
              <a:t>Цикл обучения</a:t>
            </a:r>
          </a:p>
        </p:txBody>
      </p:sp>
      <p:sp>
        <p:nvSpPr>
          <p:cNvPr id="6" name="agent"/>
          <p:cNvSpPr/>
          <p:nvPr/>
        </p:nvSpPr>
        <p:spPr>
          <a:xfrm>
            <a:off x="1463040" y="2148840"/>
            <a:ext cx="1737360" cy="566928"/>
          </a:xfrm>
          <a:prstGeom prst="roundRect">
            <a:avLst>
              <a:gd name="adj" fmla="val 24193"/>
            </a:avLst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Агент</a:t>
            </a:r>
          </a:p>
        </p:txBody>
      </p:sp>
      <p:sp>
        <p:nvSpPr>
          <p:cNvPr id="7" name="environment"/>
          <p:cNvSpPr/>
          <p:nvPr/>
        </p:nvSpPr>
        <p:spPr>
          <a:xfrm>
            <a:off x="1463040" y="3383280"/>
            <a:ext cx="1737360" cy="566928"/>
          </a:xfrm>
          <a:prstGeom prst="roundRect">
            <a:avLst>
              <a:gd name="adj" fmla="val 24193"/>
            </a:avLst>
          </a:prstGeom>
          <a:solidFill>
            <a:srgbClr val="14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Среда</a:t>
            </a:r>
          </a:p>
        </p:txBody>
      </p:sp>
      <p:sp>
        <p:nvSpPr>
          <p:cNvPr id="8" name="arrow-action"/>
          <p:cNvSpPr/>
          <p:nvPr/>
        </p:nvSpPr>
        <p:spPr>
          <a:xfrm>
            <a:off x="1783080" y="2761488"/>
            <a:ext cx="256032" cy="566928"/>
          </a:xfrm>
          <a:prstGeom prst="downArrow">
            <a:avLst/>
          </a:prstGeom>
          <a:solidFill>
            <a:srgbClr val="5B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rrow-reward"/>
          <p:cNvSpPr/>
          <p:nvPr/>
        </p:nvSpPr>
        <p:spPr>
          <a:xfrm>
            <a:off x="2624328" y="2761488"/>
            <a:ext cx="256032" cy="566928"/>
          </a:xfrm>
          <a:prstGeom prst="upArrow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abel-action"/>
          <p:cNvSpPr txBox="1"/>
          <p:nvPr/>
        </p:nvSpPr>
        <p:spPr>
          <a:xfrm>
            <a:off x="640080" y="2926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>
                <a:solidFill>
                  <a:srgbClr val="5B6070"/>
                </a:solidFill>
              </a:rPr>
              <a:t>действие</a:t>
            </a:r>
          </a:p>
        </p:txBody>
      </p:sp>
      <p:sp>
        <p:nvSpPr>
          <p:cNvPr id="11" name="label-reward"/>
          <p:cNvSpPr txBox="1"/>
          <p:nvPr/>
        </p:nvSpPr>
        <p:spPr>
          <a:xfrm>
            <a:off x="2971800" y="29260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5B6070"/>
                </a:solidFill>
              </a:rPr>
              <a:t>награда</a:t>
            </a:r>
          </a:p>
        </p:txBody>
      </p:sp>
      <p:sp>
        <p:nvSpPr>
          <p:cNvPr id="12" name="card"/>
          <p:cNvSpPr/>
          <p:nvPr/>
        </p:nvSpPr>
        <p:spPr>
          <a:xfrm>
            <a:off x="4663440" y="1600200"/>
            <a:ext cx="4023360" cy="2514600"/>
          </a:xfrm>
          <a:prstGeom prst="roundRect">
            <a:avLst>
              <a:gd name="adj" fmla="val 5090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rd-title"/>
          <p:cNvSpPr txBox="1"/>
          <p:nvPr/>
        </p:nvSpPr>
        <p:spPr>
          <a:xfrm>
            <a:off x="4892040" y="171907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4121F"/>
                </a:solidFill>
              </a:rPr>
              <a:t>Пример: коридор из 6 клеток</a:t>
            </a:r>
          </a:p>
        </p:txBody>
      </p:sp>
      <p:sp>
        <p:nvSpPr>
          <p:cNvPr id="14" name="cell"/>
          <p:cNvSpPr/>
          <p:nvPr/>
        </p:nvSpPr>
        <p:spPr>
          <a:xfrm>
            <a:off x="4937760" y="2240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ell"/>
          <p:cNvSpPr/>
          <p:nvPr/>
        </p:nvSpPr>
        <p:spPr>
          <a:xfrm>
            <a:off x="5513832" y="2240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ell"/>
          <p:cNvSpPr/>
          <p:nvPr/>
        </p:nvSpPr>
        <p:spPr>
          <a:xfrm>
            <a:off x="6089904" y="2240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ell"/>
          <p:cNvSpPr/>
          <p:nvPr/>
        </p:nvSpPr>
        <p:spPr>
          <a:xfrm>
            <a:off x="6665976" y="2240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ell"/>
          <p:cNvSpPr/>
          <p:nvPr/>
        </p:nvSpPr>
        <p:spPr>
          <a:xfrm>
            <a:off x="7242048" y="2240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ell"/>
          <p:cNvSpPr/>
          <p:nvPr/>
        </p:nvSpPr>
        <p:spPr>
          <a:xfrm>
            <a:off x="7818120" y="2240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policy-arrow"/>
          <p:cNvSpPr/>
          <p:nvPr/>
        </p:nvSpPr>
        <p:spPr>
          <a:xfrm>
            <a:off x="5010912" y="2852928"/>
            <a:ext cx="365760" cy="182880"/>
          </a:xfrm>
          <a:prstGeom prst="rightArrow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policy-arrow"/>
          <p:cNvSpPr/>
          <p:nvPr/>
        </p:nvSpPr>
        <p:spPr>
          <a:xfrm>
            <a:off x="5586984" y="2852928"/>
            <a:ext cx="365760" cy="182880"/>
          </a:xfrm>
          <a:prstGeom prst="rightArrow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olicy-arrow"/>
          <p:cNvSpPr/>
          <p:nvPr/>
        </p:nvSpPr>
        <p:spPr>
          <a:xfrm>
            <a:off x="6163056" y="2852928"/>
            <a:ext cx="365760" cy="182880"/>
          </a:xfrm>
          <a:prstGeom prst="rightArrow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policy-arrow"/>
          <p:cNvSpPr/>
          <p:nvPr/>
        </p:nvSpPr>
        <p:spPr>
          <a:xfrm>
            <a:off x="6739128" y="2852928"/>
            <a:ext cx="365760" cy="182880"/>
          </a:xfrm>
          <a:prstGeom prst="rightArrow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policy-arrow"/>
          <p:cNvSpPr/>
          <p:nvPr/>
        </p:nvSpPr>
        <p:spPr>
          <a:xfrm>
            <a:off x="7315200" y="2852928"/>
            <a:ext cx="365760" cy="182880"/>
          </a:xfrm>
          <a:prstGeom prst="rightArrow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gent-dot"/>
          <p:cNvSpPr/>
          <p:nvPr/>
        </p:nvSpPr>
        <p:spPr>
          <a:xfrm>
            <a:off x="5033772" y="2336292"/>
            <a:ext cx="310896" cy="310896"/>
          </a:xfrm>
          <a:prstGeom prst="ellipse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goal-dot"/>
          <p:cNvSpPr/>
          <p:nvPr/>
        </p:nvSpPr>
        <p:spPr>
          <a:xfrm>
            <a:off x="7886700" y="2308860"/>
            <a:ext cx="365760" cy="365760"/>
          </a:xfrm>
          <a:prstGeom prst="ellipse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14121F"/>
                </a:solidFill>
              </a:rPr>
              <a:t>+1</a:t>
            </a:r>
          </a:p>
        </p:txBody>
      </p:sp>
      <p:sp>
        <p:nvSpPr>
          <p:cNvPr id="27" name="label-start"/>
          <p:cNvSpPr txBox="1"/>
          <p:nvPr/>
        </p:nvSpPr>
        <p:spPr>
          <a:xfrm>
            <a:off x="4937760" y="310896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B6070"/>
                </a:solidFill>
              </a:rPr>
              <a:t>старт</a:t>
            </a:r>
          </a:p>
        </p:txBody>
      </p:sp>
      <p:sp>
        <p:nvSpPr>
          <p:cNvPr id="28" name="label-goal"/>
          <p:cNvSpPr txBox="1"/>
          <p:nvPr/>
        </p:nvSpPr>
        <p:spPr>
          <a:xfrm>
            <a:off x="7680960" y="3108960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>
                <a:solidFill>
                  <a:srgbClr val="5B6070"/>
                </a:solidFill>
              </a:rPr>
              <a:t>цель</a:t>
            </a:r>
          </a:p>
        </p:txBody>
      </p:sp>
      <p:sp>
        <p:nvSpPr>
          <p:cNvPr id="29" name="card-text"/>
          <p:cNvSpPr txBox="1"/>
          <p:nvPr/>
        </p:nvSpPr>
        <p:spPr>
          <a:xfrm>
            <a:off x="4892040" y="3456432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4121F"/>
                </a:solidFill>
              </a:rPr>
              <a:t>Сначала ходит наугад, потом запоминает, какие шаги ведут к награде</a:t>
            </a:r>
          </a:p>
        </p:txBody>
      </p:sp>
      <p:sp>
        <p:nvSpPr>
          <p:cNvPr id="30" name="takeaway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14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Нет готовых ответов, есть награда: роботы, AlphaGo, беспилотные авто</a:t>
            </a:r>
          </a:p>
        </p:txBody>
      </p:sp>
      <p:pic>
        <p:nvPicPr>
          <p:cNvPr id="31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23</a:t>
            </a:fld>
            <a:endParaRPr lang="ru-RU" noProof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600" b="1">
                <a:solidFill>
                  <a:schemeClr val="tx1"/>
                </a:solidFill>
              </a:rPr>
              <a:t>Системы МО</a:t>
            </a:r>
          </a:p>
        </p:txBody>
      </p:sp>
      <p:sp>
        <p:nvSpPr>
          <p:cNvPr id="3" name="zone-header"/>
          <p:cNvSpPr/>
          <p:nvPr/>
        </p:nvSpPr>
        <p:spPr>
          <a:xfrm>
            <a:off x="457200" y="1143000"/>
            <a:ext cx="3749039" cy="384048"/>
          </a:xfrm>
          <a:prstGeom prst="roundRect">
            <a:avLst>
              <a:gd name="adj" fmla="val 50000"/>
            </a:avLst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4121F"/>
                </a:solidFill>
              </a:rPr>
              <a:t>ОБУЧЕНИЕ · редко и долго</a:t>
            </a:r>
          </a:p>
        </p:txBody>
      </p:sp>
      <p:sp>
        <p:nvSpPr>
          <p:cNvPr id="4" name="card"/>
          <p:cNvSpPr/>
          <p:nvPr/>
        </p:nvSpPr>
        <p:spPr>
          <a:xfrm>
            <a:off x="457200" y="1691640"/>
            <a:ext cx="3749039" cy="685800"/>
          </a:xfrm>
          <a:prstGeom prst="roundRect">
            <a:avLst>
              <a:gd name="adj" fmla="val 16000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con-bg"/>
          <p:cNvSpPr/>
          <p:nvPr/>
        </p:nvSpPr>
        <p:spPr>
          <a:xfrm>
            <a:off x="621792" y="1805940"/>
            <a:ext cx="457200" cy="45720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con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1920240"/>
            <a:ext cx="228600" cy="228600"/>
          </a:xfrm>
          <a:prstGeom prst="rect">
            <a:avLst/>
          </a:prstGeom>
        </p:spPr>
      </p:pic>
      <p:sp>
        <p:nvSpPr>
          <p:cNvPr id="7" name="card-text"/>
          <p:cNvSpPr txBox="1"/>
          <p:nvPr/>
        </p:nvSpPr>
        <p:spPr>
          <a:xfrm>
            <a:off x="1234440" y="1755648"/>
            <a:ext cx="2834640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4121F"/>
                </a:solidFill>
              </a:rPr>
              <a:t>Данные</a:t>
            </a:r>
          </a:p>
          <a:p>
            <a:pPr algn="l"/>
            <a:r>
              <a:rPr sz="1400" b="0">
                <a:solidFill>
                  <a:srgbClr val="5B6070"/>
                </a:solidFill>
              </a:rPr>
              <a:t>сбор, очистка, разметка</a:t>
            </a:r>
          </a:p>
        </p:txBody>
      </p:sp>
      <p:sp>
        <p:nvSpPr>
          <p:cNvPr id="8" name="arrow"/>
          <p:cNvSpPr/>
          <p:nvPr/>
        </p:nvSpPr>
        <p:spPr>
          <a:xfrm>
            <a:off x="2240280" y="2404872"/>
            <a:ext cx="182880" cy="146304"/>
          </a:xfrm>
          <a:prstGeom prst="downArrow">
            <a:avLst/>
          </a:prstGeom>
          <a:solidFill>
            <a:srgbClr val="5B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card"/>
          <p:cNvSpPr/>
          <p:nvPr/>
        </p:nvSpPr>
        <p:spPr>
          <a:xfrm>
            <a:off x="457200" y="2560320"/>
            <a:ext cx="3749039" cy="685800"/>
          </a:xfrm>
          <a:prstGeom prst="roundRect">
            <a:avLst>
              <a:gd name="adj" fmla="val 16000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con-bg"/>
          <p:cNvSpPr/>
          <p:nvPr/>
        </p:nvSpPr>
        <p:spPr>
          <a:xfrm>
            <a:off x="621792" y="2674620"/>
            <a:ext cx="457200" cy="45720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" descr="FaMicroc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2788920"/>
            <a:ext cx="228600" cy="228600"/>
          </a:xfrm>
          <a:prstGeom prst="rect">
            <a:avLst/>
          </a:prstGeom>
        </p:spPr>
      </p:pic>
      <p:sp>
        <p:nvSpPr>
          <p:cNvPr id="12" name="card-text"/>
          <p:cNvSpPr txBox="1"/>
          <p:nvPr/>
        </p:nvSpPr>
        <p:spPr>
          <a:xfrm>
            <a:off x="1234440" y="2624327"/>
            <a:ext cx="2834640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4121F"/>
                </a:solidFill>
              </a:rPr>
              <a:t>Обучение модели</a:t>
            </a:r>
          </a:p>
          <a:p>
            <a:pPr algn="l"/>
            <a:r>
              <a:rPr sz="1400" b="0">
                <a:solidFill>
                  <a:srgbClr val="5B6070"/>
                </a:solidFill>
              </a:rPr>
              <a:t>одна или несколько видеокарт</a:t>
            </a:r>
          </a:p>
        </p:txBody>
      </p:sp>
      <p:sp>
        <p:nvSpPr>
          <p:cNvPr id="13" name="arrow"/>
          <p:cNvSpPr/>
          <p:nvPr/>
        </p:nvSpPr>
        <p:spPr>
          <a:xfrm>
            <a:off x="2240280" y="3273552"/>
            <a:ext cx="182880" cy="146304"/>
          </a:xfrm>
          <a:prstGeom prst="downArrow">
            <a:avLst/>
          </a:prstGeom>
          <a:solidFill>
            <a:srgbClr val="5B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rd"/>
          <p:cNvSpPr/>
          <p:nvPr/>
        </p:nvSpPr>
        <p:spPr>
          <a:xfrm>
            <a:off x="457200" y="3429000"/>
            <a:ext cx="3749039" cy="685800"/>
          </a:xfrm>
          <a:prstGeom prst="roundRect">
            <a:avLst>
              <a:gd name="adj" fmla="val 16000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icon-bg"/>
          <p:cNvSpPr/>
          <p:nvPr/>
        </p:nvSpPr>
        <p:spPr>
          <a:xfrm>
            <a:off x="621792" y="3543300"/>
            <a:ext cx="457200" cy="45720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con" descr="FaClipboard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3657600"/>
            <a:ext cx="228600" cy="228600"/>
          </a:xfrm>
          <a:prstGeom prst="rect">
            <a:avLst/>
          </a:prstGeom>
        </p:spPr>
      </p:pic>
      <p:sp>
        <p:nvSpPr>
          <p:cNvPr id="17" name="card-text"/>
          <p:cNvSpPr txBox="1"/>
          <p:nvPr/>
        </p:nvSpPr>
        <p:spPr>
          <a:xfrm>
            <a:off x="1234440" y="3493008"/>
            <a:ext cx="2834640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4121F"/>
                </a:solidFill>
              </a:rPr>
              <a:t>Проверка</a:t>
            </a:r>
          </a:p>
          <a:p>
            <a:pPr algn="l"/>
            <a:r>
              <a:rPr sz="1400" b="0">
                <a:solidFill>
                  <a:srgbClr val="5B6070"/>
                </a:solidFill>
              </a:rPr>
              <a:t>на новых для модели данных</a:t>
            </a:r>
          </a:p>
        </p:txBody>
      </p:sp>
      <p:sp>
        <p:nvSpPr>
          <p:cNvPr id="18" name="zone-header"/>
          <p:cNvSpPr/>
          <p:nvPr/>
        </p:nvSpPr>
        <p:spPr>
          <a:xfrm>
            <a:off x="4937760" y="1143000"/>
            <a:ext cx="3749039" cy="384048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ЭКСПЛУАТАЦИЯ · постоянно и быстро</a:t>
            </a:r>
          </a:p>
        </p:txBody>
      </p:sp>
      <p:sp>
        <p:nvSpPr>
          <p:cNvPr id="19" name="card"/>
          <p:cNvSpPr/>
          <p:nvPr/>
        </p:nvSpPr>
        <p:spPr>
          <a:xfrm>
            <a:off x="4937760" y="1691640"/>
            <a:ext cx="3749039" cy="685800"/>
          </a:xfrm>
          <a:prstGeom prst="roundRect">
            <a:avLst>
              <a:gd name="adj" fmla="val 16000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icon-bg"/>
          <p:cNvSpPr/>
          <p:nvPr/>
        </p:nvSpPr>
        <p:spPr>
          <a:xfrm>
            <a:off x="5102352" y="1805940"/>
            <a:ext cx="457200" cy="45720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icon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6652" y="1920240"/>
            <a:ext cx="228600" cy="228600"/>
          </a:xfrm>
          <a:prstGeom prst="rect">
            <a:avLst/>
          </a:prstGeom>
        </p:spPr>
      </p:pic>
      <p:sp>
        <p:nvSpPr>
          <p:cNvPr id="22" name="card-text"/>
          <p:cNvSpPr txBox="1"/>
          <p:nvPr/>
        </p:nvSpPr>
        <p:spPr>
          <a:xfrm>
            <a:off x="5715000" y="1755648"/>
            <a:ext cx="2834640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4121F"/>
                </a:solidFill>
              </a:rPr>
              <a:t>Приложение</a:t>
            </a:r>
          </a:p>
          <a:p>
            <a:pPr algn="l"/>
            <a:r>
              <a:rPr sz="1400" b="0">
                <a:solidFill>
                  <a:srgbClr val="5B6070"/>
                </a:solidFill>
              </a:rPr>
              <a:t>вызывает модель по запросу</a:t>
            </a:r>
          </a:p>
        </p:txBody>
      </p:sp>
      <p:sp>
        <p:nvSpPr>
          <p:cNvPr id="23" name="arrow"/>
          <p:cNvSpPr/>
          <p:nvPr/>
        </p:nvSpPr>
        <p:spPr>
          <a:xfrm>
            <a:off x="6720840" y="2404872"/>
            <a:ext cx="182880" cy="146304"/>
          </a:xfrm>
          <a:prstGeom prst="downArrow">
            <a:avLst/>
          </a:prstGeom>
          <a:solidFill>
            <a:srgbClr val="5B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ard"/>
          <p:cNvSpPr/>
          <p:nvPr/>
        </p:nvSpPr>
        <p:spPr>
          <a:xfrm>
            <a:off x="4937760" y="2560320"/>
            <a:ext cx="3749039" cy="685800"/>
          </a:xfrm>
          <a:prstGeom prst="roundRect">
            <a:avLst>
              <a:gd name="adj" fmla="val 16000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icon-bg"/>
          <p:cNvSpPr/>
          <p:nvPr/>
        </p:nvSpPr>
        <p:spPr>
          <a:xfrm>
            <a:off x="5102352" y="2674620"/>
            <a:ext cx="457200" cy="45720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icon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6652" y="2788920"/>
            <a:ext cx="228600" cy="228600"/>
          </a:xfrm>
          <a:prstGeom prst="rect">
            <a:avLst/>
          </a:prstGeom>
        </p:spPr>
      </p:pic>
      <p:sp>
        <p:nvSpPr>
          <p:cNvPr id="27" name="card-text"/>
          <p:cNvSpPr txBox="1"/>
          <p:nvPr/>
        </p:nvSpPr>
        <p:spPr>
          <a:xfrm>
            <a:off x="5715000" y="2624327"/>
            <a:ext cx="2834640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4121F"/>
                </a:solidFill>
              </a:rPr>
              <a:t>Пользователь</a:t>
            </a:r>
          </a:p>
          <a:p>
            <a:pPr algn="l"/>
            <a:r>
              <a:rPr sz="1400" b="0">
                <a:solidFill>
                  <a:srgbClr val="5B6070"/>
                </a:solidFill>
              </a:rPr>
              <a:t>получает ответ за доли секунды</a:t>
            </a:r>
          </a:p>
        </p:txBody>
      </p:sp>
      <p:sp>
        <p:nvSpPr>
          <p:cNvPr id="28" name="arrow"/>
          <p:cNvSpPr/>
          <p:nvPr/>
        </p:nvSpPr>
        <p:spPr>
          <a:xfrm>
            <a:off x="6720840" y="3273552"/>
            <a:ext cx="182880" cy="146304"/>
          </a:xfrm>
          <a:prstGeom prst="downArrow">
            <a:avLst/>
          </a:prstGeom>
          <a:solidFill>
            <a:srgbClr val="5B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ard"/>
          <p:cNvSpPr/>
          <p:nvPr/>
        </p:nvSpPr>
        <p:spPr>
          <a:xfrm>
            <a:off x="4937760" y="3429000"/>
            <a:ext cx="3749039" cy="685800"/>
          </a:xfrm>
          <a:prstGeom prst="roundRect">
            <a:avLst>
              <a:gd name="adj" fmla="val 16000"/>
            </a:avLst>
          </a:prstGeom>
          <a:solidFill>
            <a:srgbClr val="F1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icon-bg"/>
          <p:cNvSpPr/>
          <p:nvPr/>
        </p:nvSpPr>
        <p:spPr>
          <a:xfrm>
            <a:off x="5102352" y="3543300"/>
            <a:ext cx="457200" cy="457200"/>
          </a:xfrm>
          <a:prstGeom prst="ellipse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icon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6652" y="3657600"/>
            <a:ext cx="228600" cy="228600"/>
          </a:xfrm>
          <a:prstGeom prst="rect">
            <a:avLst/>
          </a:prstGeom>
        </p:spPr>
      </p:pic>
      <p:sp>
        <p:nvSpPr>
          <p:cNvPr id="32" name="card-text"/>
          <p:cNvSpPr txBox="1"/>
          <p:nvPr/>
        </p:nvSpPr>
        <p:spPr>
          <a:xfrm>
            <a:off x="5715000" y="3493008"/>
            <a:ext cx="2834640" cy="5577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14121F"/>
                </a:solidFill>
              </a:rPr>
              <a:t>Мониторинг</a:t>
            </a:r>
          </a:p>
          <a:p>
            <a:pPr algn="l"/>
            <a:r>
              <a:rPr sz="1400" b="0">
                <a:solidFill>
                  <a:srgbClr val="5B6070"/>
                </a:solidFill>
              </a:rPr>
              <a:t>качество упало — переобучаем</a:t>
            </a:r>
          </a:p>
        </p:txBody>
      </p:sp>
      <p:sp>
        <p:nvSpPr>
          <p:cNvPr id="33" name="arrow-model"/>
          <p:cNvSpPr/>
          <p:nvPr/>
        </p:nvSpPr>
        <p:spPr>
          <a:xfrm>
            <a:off x="4343400" y="2697480"/>
            <a:ext cx="457200" cy="411480"/>
          </a:xfrm>
          <a:prstGeom prst="rightArrow">
            <a:avLst/>
          </a:prstGeom>
          <a:solidFill>
            <a:srgbClr val="1FB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arrow-label"/>
          <p:cNvSpPr txBox="1"/>
          <p:nvPr/>
        </p:nvSpPr>
        <p:spPr>
          <a:xfrm>
            <a:off x="4206240" y="315468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5B6070"/>
                </a:solidFill>
              </a:rPr>
              <a:t>модель</a:t>
            </a:r>
          </a:p>
        </p:txBody>
      </p:sp>
      <p:sp>
        <p:nvSpPr>
          <p:cNvPr id="35" name="takeaway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14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Обучаем редко и долго, используем постоянно и быстро</a:t>
            </a:r>
          </a:p>
        </p:txBody>
      </p:sp>
      <p:pic>
        <p:nvPicPr>
          <p:cNvPr id="36" name="Logo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24</a:t>
            </a:fld>
            <a:endParaRPr lang="ru-RU" noProof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600" b="1" noProof="0" dirty="0">
                <a:solidFill>
                  <a:schemeClr val="bg1"/>
                </a:solidFill>
              </a:rPr>
              <a:t>Три уровня ИИ</a:t>
            </a:r>
            <a:endParaRPr lang="ru-RU" sz="3600" noProof="0" dirty="0"/>
          </a:p>
        </p:txBody>
      </p:sp>
      <p:sp>
        <p:nvSpPr>
          <p:cNvPr id="3" name="step-286"/>
          <p:cNvSpPr/>
          <p:nvPr/>
        </p:nvSpPr>
        <p:spPr>
          <a:xfrm>
            <a:off x="548640" y="3200400"/>
            <a:ext cx="2468880" cy="1417320"/>
          </a:xfrm>
          <a:prstGeom prst="rect">
            <a:avLst/>
          </a:prstGeom>
          <a:solidFill>
            <a:srgbClr val="2B2A3D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4" name="text-287"/>
          <p:cNvSpPr txBox="1"/>
          <p:nvPr/>
        </p:nvSpPr>
        <p:spPr>
          <a:xfrm>
            <a:off x="731520" y="33375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800" b="1" noProof="0" dirty="0">
                <a:solidFill>
                  <a:srgbClr val="FFFFFF"/>
                </a:solidFill>
              </a:rPr>
              <a:t>ANI</a:t>
            </a:r>
            <a:endParaRPr lang="ru-RU" sz="1400" noProof="0" dirty="0"/>
          </a:p>
          <a:p>
            <a:pPr marL="0" indent="0">
              <a:buNone/>
            </a:pPr>
            <a:r>
              <a:rPr lang="ru-RU" sz="1600" b="1" noProof="0" dirty="0">
                <a:solidFill>
                  <a:srgbClr val="FFFFFF"/>
                </a:solidFill>
              </a:rPr>
              <a:t>Узкий ИИ</a:t>
            </a:r>
            <a:endParaRPr lang="ru-RU" sz="1400" noProof="0" dirty="0"/>
          </a:p>
          <a:p>
            <a:pPr marL="0" indent="0">
              <a:buNone/>
            </a:pPr>
            <a:r>
              <a:rPr lang="ru-RU" sz="1400" noProof="0" dirty="0">
                <a:solidFill>
                  <a:srgbClr val="FFFFFF"/>
                </a:solidFill>
              </a:rPr>
              <a:t>Одна задача: шахматы, картинки, чат-боты</a:t>
            </a:r>
            <a:endParaRPr lang="ru-RU" sz="1400" noProof="0" dirty="0"/>
          </a:p>
        </p:txBody>
      </p:sp>
      <p:sp>
        <p:nvSpPr>
          <p:cNvPr id="5" name="step-288"/>
          <p:cNvSpPr/>
          <p:nvPr/>
        </p:nvSpPr>
        <p:spPr>
          <a:xfrm>
            <a:off x="3337560" y="2560320"/>
            <a:ext cx="2468880" cy="2057400"/>
          </a:xfrm>
          <a:prstGeom prst="rect">
            <a:avLst/>
          </a:prstGeom>
          <a:solidFill>
            <a:srgbClr val="7B61F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6" name="text-289"/>
          <p:cNvSpPr txBox="1"/>
          <p:nvPr/>
        </p:nvSpPr>
        <p:spPr>
          <a:xfrm>
            <a:off x="3520440" y="26974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800" b="1" noProof="0" dirty="0">
                <a:solidFill>
                  <a:srgbClr val="FFFFFF"/>
                </a:solidFill>
              </a:rPr>
              <a:t>AGI</a:t>
            </a:r>
            <a:endParaRPr lang="ru-RU" sz="1400" noProof="0" dirty="0"/>
          </a:p>
          <a:p>
            <a:pPr marL="0" indent="0">
              <a:buNone/>
            </a:pPr>
            <a:r>
              <a:rPr lang="ru-RU" sz="1600" b="1" noProof="0" dirty="0">
                <a:solidFill>
                  <a:srgbClr val="FFFFFF"/>
                </a:solidFill>
              </a:rPr>
              <a:t>Общий ИИ</a:t>
            </a:r>
            <a:endParaRPr lang="ru-RU" sz="1400" noProof="0" dirty="0"/>
          </a:p>
          <a:p>
            <a:pPr marL="0" indent="0">
              <a:buNone/>
            </a:pPr>
            <a:r>
              <a:rPr lang="ru-RU" sz="1400" noProof="0" dirty="0">
                <a:solidFill>
                  <a:srgbClr val="FFFFFF"/>
                </a:solidFill>
              </a:rPr>
              <a:t>Большинство задач человека и не хуже человека</a:t>
            </a:r>
            <a:endParaRPr lang="ru-RU" sz="1400" noProof="0" dirty="0"/>
          </a:p>
        </p:txBody>
      </p:sp>
      <p:sp>
        <p:nvSpPr>
          <p:cNvPr id="7" name="step-290"/>
          <p:cNvSpPr/>
          <p:nvPr/>
        </p:nvSpPr>
        <p:spPr>
          <a:xfrm>
            <a:off x="6126480" y="1920240"/>
            <a:ext cx="2468880" cy="2697480"/>
          </a:xfrm>
          <a:prstGeom prst="rect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8" name="text-291"/>
          <p:cNvSpPr txBox="1"/>
          <p:nvPr/>
        </p:nvSpPr>
        <p:spPr>
          <a:xfrm>
            <a:off x="6309360" y="205740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800" b="1" noProof="0" dirty="0">
                <a:solidFill>
                  <a:srgbClr val="14121F"/>
                </a:solidFill>
              </a:rPr>
              <a:t>ASI</a:t>
            </a:r>
            <a:endParaRPr lang="ru-RU" sz="1400" noProof="0" dirty="0"/>
          </a:p>
          <a:p>
            <a:pPr marL="0" indent="0">
              <a:buNone/>
            </a:pPr>
            <a:r>
              <a:rPr lang="ru-RU" sz="1600" b="1" noProof="0" dirty="0">
                <a:solidFill>
                  <a:srgbClr val="14121F"/>
                </a:solidFill>
              </a:rPr>
              <a:t>Сверхинтеллект</a:t>
            </a:r>
            <a:endParaRPr lang="ru-RU" sz="1400" noProof="0" dirty="0"/>
          </a:p>
          <a:p>
            <a:pPr marL="0" indent="0">
              <a:buNone/>
            </a:pPr>
            <a:r>
              <a:rPr lang="ru-RU" sz="1400" noProof="0" dirty="0">
                <a:solidFill>
                  <a:srgbClr val="14121F"/>
                </a:solidFill>
              </a:rPr>
              <a:t>Превосходит любого человека</a:t>
            </a:r>
            <a:endParaRPr lang="ru-RU" sz="1400" noProof="0" dirty="0"/>
          </a:p>
        </p:txBody>
      </p:sp>
      <p:sp>
        <p:nvSpPr>
          <p:cNvPr id="9" name="pill-292"/>
          <p:cNvSpPr/>
          <p:nvPr/>
        </p:nvSpPr>
        <p:spPr>
          <a:xfrm>
            <a:off x="548640" y="28346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0" name="text-293"/>
          <p:cNvSpPr txBox="1"/>
          <p:nvPr/>
        </p:nvSpPr>
        <p:spPr>
          <a:xfrm>
            <a:off x="548640" y="28346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200" b="1" noProof="0" dirty="0">
                <a:solidFill>
                  <a:schemeClr val="tx1"/>
                </a:solidFill>
              </a:rPr>
              <a:t>мы здесь</a:t>
            </a:r>
            <a:endParaRPr lang="ru-RU" sz="12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4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25</a:t>
            </a:fld>
            <a:endParaRPr lang="ru-RU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7BC22B-3061-1733-5565-3139882701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600" b="1" noProof="0" dirty="0">
                <a:solidFill>
                  <a:schemeClr val="tx1"/>
                </a:solidFill>
              </a:rPr>
              <a:t>Почему AGI ещё нет</a:t>
            </a:r>
            <a:endParaRPr lang="ru-RU" sz="3600" noProof="0" dirty="0"/>
          </a:p>
        </p:txBody>
      </p:sp>
      <p:sp>
        <p:nvSpPr>
          <p:cNvPr id="3" name="card-294"/>
          <p:cNvSpPr/>
          <p:nvPr/>
        </p:nvSpPr>
        <p:spPr>
          <a:xfrm>
            <a:off x="457200" y="1234440"/>
            <a:ext cx="4023360" cy="2514600"/>
          </a:xfrm>
          <a:prstGeom prst="roundRect">
            <a:avLst>
              <a:gd name="adj" fmla="val 4364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4" name="icon-bg-295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pic>
        <p:nvPicPr>
          <p:cNvPr id="5" name="icon-296" descr="FaCoff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274320" cy="274320"/>
          </a:xfrm>
          <a:prstGeom prst="rect">
            <a:avLst/>
          </a:prstGeom>
        </p:spPr>
      </p:pic>
      <p:sp>
        <p:nvSpPr>
          <p:cNvPr id="6" name="text-297"/>
          <p:cNvSpPr txBox="1"/>
          <p:nvPr/>
        </p:nvSpPr>
        <p:spPr>
          <a:xfrm>
            <a:off x="1417320" y="1417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 noProof="0" dirty="0">
                <a:solidFill>
                  <a:schemeClr val="tx1"/>
                </a:solidFill>
              </a:rPr>
              <a:t>Кофе-тест Возняка</a:t>
            </a:r>
            <a:endParaRPr lang="ru-RU" sz="2000" noProof="0" dirty="0"/>
          </a:p>
        </p:txBody>
      </p:sp>
      <p:sp>
        <p:nvSpPr>
          <p:cNvPr id="7" name="text-298"/>
          <p:cNvSpPr txBox="1"/>
          <p:nvPr/>
        </p:nvSpPr>
        <p:spPr>
          <a:xfrm>
            <a:off x="685800" y="21945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600" noProof="0" dirty="0">
                <a:solidFill>
                  <a:schemeClr val="tx1"/>
                </a:solidFill>
              </a:rPr>
              <a:t>Зайти в обычный дом, найти кофемашину и кофе, сварить кофе</a:t>
            </a:r>
            <a:endParaRPr lang="ru-RU" sz="1600" noProof="0" dirty="0"/>
          </a:p>
        </p:txBody>
      </p:sp>
      <p:sp>
        <p:nvSpPr>
          <p:cNvPr id="8" name="text-299"/>
          <p:cNvSpPr txBox="1"/>
          <p:nvPr/>
        </p:nvSpPr>
        <p:spPr>
          <a:xfrm>
            <a:off x="685800" y="3017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600" b="1" noProof="0" dirty="0">
                <a:solidFill>
                  <a:schemeClr val="tx1"/>
                </a:solidFill>
              </a:rPr>
              <a:t>Нужен не только интеллект, но и тело</a:t>
            </a:r>
            <a:endParaRPr lang="ru-RU" sz="1600" noProof="0" dirty="0"/>
          </a:p>
        </p:txBody>
      </p:sp>
      <p:sp>
        <p:nvSpPr>
          <p:cNvPr id="9" name="card-300"/>
          <p:cNvSpPr/>
          <p:nvPr/>
        </p:nvSpPr>
        <p:spPr>
          <a:xfrm>
            <a:off x="4663440" y="1234440"/>
            <a:ext cx="4023360" cy="2514600"/>
          </a:xfrm>
          <a:prstGeom prst="roundRect">
            <a:avLst>
              <a:gd name="adj" fmla="val 4364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0" name="icon-bg-301"/>
          <p:cNvSpPr/>
          <p:nvPr/>
        </p:nvSpPr>
        <p:spPr>
          <a:xfrm>
            <a:off x="4892040" y="1417320"/>
            <a:ext cx="548640" cy="548640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pic>
        <p:nvPicPr>
          <p:cNvPr id="11" name="icon-302" descr="FaBalanceSca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554480"/>
            <a:ext cx="274320" cy="274320"/>
          </a:xfrm>
          <a:prstGeom prst="rect">
            <a:avLst/>
          </a:prstGeom>
        </p:spPr>
      </p:pic>
      <p:sp>
        <p:nvSpPr>
          <p:cNvPr id="12" name="text-303"/>
          <p:cNvSpPr txBox="1"/>
          <p:nvPr/>
        </p:nvSpPr>
        <p:spPr>
          <a:xfrm>
            <a:off x="5623560" y="1417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 noProof="0" dirty="0">
                <a:solidFill>
                  <a:schemeClr val="tx1"/>
                </a:solidFill>
              </a:rPr>
              <a:t>Парадокс </a:t>
            </a:r>
            <a:r>
              <a:rPr lang="ru-RU" sz="2000" b="1" noProof="0" dirty="0" err="1">
                <a:solidFill>
                  <a:schemeClr val="tx1"/>
                </a:solidFill>
              </a:rPr>
              <a:t>Моравека</a:t>
            </a:r>
            <a:endParaRPr lang="ru-RU" sz="2000" noProof="0" dirty="0"/>
          </a:p>
        </p:txBody>
      </p:sp>
      <p:sp>
        <p:nvSpPr>
          <p:cNvPr id="13" name="text-304"/>
          <p:cNvSpPr txBox="1"/>
          <p:nvPr/>
        </p:nvSpPr>
        <p:spPr>
          <a:xfrm>
            <a:off x="4892040" y="21945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u-RU" sz="1500" b="1" noProof="0" dirty="0">
                <a:solidFill>
                  <a:schemeClr val="tx1"/>
                </a:solidFill>
              </a:rPr>
              <a:t>Легко для компьютера: </a:t>
            </a:r>
            <a:r>
              <a:rPr lang="ru-RU" sz="1500" noProof="0" dirty="0">
                <a:solidFill>
                  <a:schemeClr val="tx1"/>
                </a:solidFill>
              </a:rPr>
              <a:t>шахматы, логика, математика</a:t>
            </a:r>
            <a:endParaRPr lang="ru-RU" sz="15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ru-RU" sz="1500" b="1" noProof="0" dirty="0">
                <a:solidFill>
                  <a:schemeClr val="tx1"/>
                </a:solidFill>
              </a:rPr>
              <a:t>Трудно для компьютера: </a:t>
            </a:r>
            <a:r>
              <a:rPr lang="ru-RU" sz="1500" noProof="0" dirty="0">
                <a:solidFill>
                  <a:schemeClr val="tx1"/>
                </a:solidFill>
              </a:rPr>
              <a:t>зрение, ходьба, ловкость</a:t>
            </a:r>
            <a:endParaRPr lang="ru-RU" sz="150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ru-RU" sz="1500" i="1" noProof="0" dirty="0">
                <a:solidFill>
                  <a:schemeClr val="tx2"/>
                </a:solidFill>
              </a:rPr>
              <a:t>Для человека — наоборот</a:t>
            </a:r>
            <a:endParaRPr lang="ru-RU" sz="1500" noProof="0" dirty="0"/>
          </a:p>
        </p:txBody>
      </p:sp>
      <p:sp>
        <p:nvSpPr>
          <p:cNvPr id="14" name="card-305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14121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5" name="text-306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700" b="1" noProof="0" dirty="0">
                <a:solidFill>
                  <a:schemeClr val="bg1"/>
                </a:solidFill>
              </a:rPr>
              <a:t>Единого определения разума нет, поэтому нет и единого теста</a:t>
            </a:r>
            <a:endParaRPr lang="ru-RU" sz="17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26</a:t>
            </a:fld>
            <a:endParaRPr lang="ru-RU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06A8541-FBBB-FD24-CB89-DB9C70CA34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600" b="1" noProof="0" dirty="0">
                <a:solidFill>
                  <a:schemeClr val="tx1"/>
                </a:solidFill>
              </a:rPr>
              <a:t>Оракул и агент</a:t>
            </a:r>
            <a:endParaRPr lang="ru-RU" sz="3600" noProof="0" dirty="0"/>
          </a:p>
        </p:txBody>
      </p:sp>
      <p:sp>
        <p:nvSpPr>
          <p:cNvPr id="3" name="card-307"/>
          <p:cNvSpPr/>
          <p:nvPr/>
        </p:nvSpPr>
        <p:spPr>
          <a:xfrm>
            <a:off x="457200" y="118872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4" name="icon-bg-308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rgbClr val="1FBF8F"/>
          </a:solidFill>
          <a:ln/>
        </p:spPr>
        <p:txBody>
          <a:bodyPr/>
          <a:lstStyle/>
          <a:p>
            <a:endParaRPr lang="ru-RU" noProof="0" dirty="0"/>
          </a:p>
        </p:txBody>
      </p:sp>
      <p:pic>
        <p:nvPicPr>
          <p:cNvPr id="5" name="icon-309" descr="FaQuestion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08760"/>
            <a:ext cx="274320" cy="274320"/>
          </a:xfrm>
          <a:prstGeom prst="rect">
            <a:avLst/>
          </a:prstGeom>
        </p:spPr>
      </p:pic>
      <p:sp>
        <p:nvSpPr>
          <p:cNvPr id="6" name="text-310"/>
          <p:cNvSpPr txBox="1"/>
          <p:nvPr/>
        </p:nvSpPr>
        <p:spPr>
          <a:xfrm>
            <a:off x="1417320" y="1371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 noProof="0" dirty="0">
                <a:solidFill>
                  <a:schemeClr val="tx1"/>
                </a:solidFill>
              </a:rPr>
              <a:t>Оракул</a:t>
            </a:r>
            <a:endParaRPr lang="ru-RU" sz="2000" noProof="0" dirty="0"/>
          </a:p>
        </p:txBody>
      </p:sp>
      <p:sp>
        <p:nvSpPr>
          <p:cNvPr id="7" name="text-311"/>
          <p:cNvSpPr txBox="1"/>
          <p:nvPr/>
        </p:nvSpPr>
        <p:spPr>
          <a:xfrm>
            <a:off x="685800" y="21031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500" noProof="0" dirty="0">
                <a:solidFill>
                  <a:schemeClr val="tx1"/>
                </a:solidFill>
              </a:rPr>
              <a:t>Отвечает на вопросы, но сам ничего не делает</a:t>
            </a:r>
            <a:endParaRPr lang="ru-RU" sz="1500" noProof="0" dirty="0"/>
          </a:p>
        </p:txBody>
      </p:sp>
      <p:sp>
        <p:nvSpPr>
          <p:cNvPr id="8" name="card-312"/>
          <p:cNvSpPr/>
          <p:nvPr/>
        </p:nvSpPr>
        <p:spPr>
          <a:xfrm>
            <a:off x="4663440" y="118872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F1F3F8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9" name="icon-bg-313"/>
          <p:cNvSpPr/>
          <p:nvPr/>
        </p:nvSpPr>
        <p:spPr>
          <a:xfrm>
            <a:off x="4892040" y="1371600"/>
            <a:ext cx="548640" cy="548640"/>
          </a:xfrm>
          <a:prstGeom prst="ellipse">
            <a:avLst/>
          </a:prstGeom>
          <a:solidFill>
            <a:srgbClr val="7B61FF"/>
          </a:solidFill>
          <a:ln/>
        </p:spPr>
        <p:txBody>
          <a:bodyPr/>
          <a:lstStyle/>
          <a:p>
            <a:endParaRPr lang="ru-RU" noProof="0" dirty="0"/>
          </a:p>
        </p:txBody>
      </p:sp>
      <p:pic>
        <p:nvPicPr>
          <p:cNvPr id="10" name="icon-314" descr="FaRob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508760"/>
            <a:ext cx="274320" cy="274320"/>
          </a:xfrm>
          <a:prstGeom prst="rect">
            <a:avLst/>
          </a:prstGeom>
        </p:spPr>
      </p:pic>
      <p:sp>
        <p:nvSpPr>
          <p:cNvPr id="11" name="text-315"/>
          <p:cNvSpPr txBox="1"/>
          <p:nvPr/>
        </p:nvSpPr>
        <p:spPr>
          <a:xfrm>
            <a:off x="5623560" y="1371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 noProof="0" dirty="0">
                <a:solidFill>
                  <a:schemeClr val="tx1"/>
                </a:solidFill>
              </a:rPr>
              <a:t>Агент</a:t>
            </a:r>
            <a:endParaRPr lang="ru-RU" sz="2000" noProof="0" dirty="0"/>
          </a:p>
        </p:txBody>
      </p:sp>
      <p:sp>
        <p:nvSpPr>
          <p:cNvPr id="12" name="text-316"/>
          <p:cNvSpPr txBox="1"/>
          <p:nvPr/>
        </p:nvSpPr>
        <p:spPr>
          <a:xfrm>
            <a:off x="4892040" y="21031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500" noProof="0" dirty="0">
                <a:solidFill>
                  <a:schemeClr val="tx1"/>
                </a:solidFill>
              </a:rPr>
              <a:t>Совершает действия: пишет, звонит, управляет устройствами, проводит платежи</a:t>
            </a:r>
            <a:endParaRPr lang="ru-RU" sz="1500" noProof="0" dirty="0"/>
          </a:p>
        </p:txBody>
      </p:sp>
      <p:sp>
        <p:nvSpPr>
          <p:cNvPr id="13" name="text-317"/>
          <p:cNvSpPr txBox="1"/>
          <p:nvPr/>
        </p:nvSpPr>
        <p:spPr>
          <a:xfrm>
            <a:off x="45720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200" b="1" noProof="0" dirty="0">
                <a:solidFill>
                  <a:schemeClr val="tx2"/>
                </a:solidFill>
              </a:rPr>
              <a:t>РИСКИ</a:t>
            </a:r>
            <a:endParaRPr lang="ru-RU" sz="1200" noProof="0" dirty="0"/>
          </a:p>
        </p:txBody>
      </p:sp>
      <p:sp>
        <p:nvSpPr>
          <p:cNvPr id="14" name="card-318"/>
          <p:cNvSpPr/>
          <p:nvPr/>
        </p:nvSpPr>
        <p:spPr>
          <a:xfrm>
            <a:off x="457200" y="3429000"/>
            <a:ext cx="2560320" cy="1143000"/>
          </a:xfrm>
          <a:prstGeom prst="roundRect">
            <a:avLst>
              <a:gd name="adj" fmla="val 9600"/>
            </a:avLst>
          </a:prstGeom>
          <a:solidFill>
            <a:srgbClr val="14121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5" name="text-319"/>
          <p:cNvSpPr txBox="1"/>
          <p:nvPr/>
        </p:nvSpPr>
        <p:spPr>
          <a:xfrm>
            <a:off x="640080" y="34290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noProof="0" dirty="0">
                <a:solidFill>
                  <a:schemeClr val="bg1"/>
                </a:solidFill>
              </a:rPr>
              <a:t>Скрепочный </a:t>
            </a:r>
            <a:r>
              <a:rPr lang="ru-RU" sz="1400" noProof="0" dirty="0" err="1">
                <a:solidFill>
                  <a:schemeClr val="bg1"/>
                </a:solidFill>
              </a:rPr>
              <a:t>максимайзер</a:t>
            </a:r>
            <a:r>
              <a:rPr lang="ru-RU" sz="1400" noProof="0" dirty="0">
                <a:solidFill>
                  <a:schemeClr val="bg1"/>
                </a:solidFill>
              </a:rPr>
              <a:t> </a:t>
            </a:r>
            <a:r>
              <a:rPr lang="ru-RU" sz="1400" noProof="0" dirty="0" err="1">
                <a:solidFill>
                  <a:schemeClr val="bg1"/>
                </a:solidFill>
              </a:rPr>
              <a:t>Бострома</a:t>
            </a:r>
            <a:r>
              <a:rPr lang="ru-RU" sz="1400" noProof="0" dirty="0">
                <a:solidFill>
                  <a:schemeClr val="bg1"/>
                </a:solidFill>
              </a:rPr>
              <a:t>: цель без учёта наших ценностей</a:t>
            </a:r>
            <a:endParaRPr lang="ru-RU" sz="1400" noProof="0" dirty="0"/>
          </a:p>
        </p:txBody>
      </p:sp>
      <p:sp>
        <p:nvSpPr>
          <p:cNvPr id="16" name="card-320"/>
          <p:cNvSpPr/>
          <p:nvPr/>
        </p:nvSpPr>
        <p:spPr>
          <a:xfrm>
            <a:off x="3291840" y="3429000"/>
            <a:ext cx="2560320" cy="1143000"/>
          </a:xfrm>
          <a:prstGeom prst="roundRect">
            <a:avLst>
              <a:gd name="adj" fmla="val 9600"/>
            </a:avLst>
          </a:prstGeom>
          <a:solidFill>
            <a:srgbClr val="14121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7" name="text-321"/>
          <p:cNvSpPr txBox="1"/>
          <p:nvPr/>
        </p:nvSpPr>
        <p:spPr>
          <a:xfrm>
            <a:off x="3474720" y="34290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noProof="0" dirty="0">
                <a:solidFill>
                  <a:schemeClr val="bg1"/>
                </a:solidFill>
              </a:rPr>
              <a:t>Обман в лабораторных тестах (</a:t>
            </a:r>
            <a:r>
              <a:rPr lang="ru-RU" sz="1400" noProof="0" dirty="0" err="1">
                <a:solidFill>
                  <a:schemeClr val="bg1"/>
                </a:solidFill>
              </a:rPr>
              <a:t>Anthropic</a:t>
            </a:r>
            <a:r>
              <a:rPr lang="ru-RU" sz="1400" noProof="0" dirty="0">
                <a:solidFill>
                  <a:schemeClr val="bg1"/>
                </a:solidFill>
              </a:rPr>
              <a:t>, Apollo Research, 2024)</a:t>
            </a:r>
            <a:endParaRPr lang="ru-RU" sz="1400" noProof="0" dirty="0"/>
          </a:p>
        </p:txBody>
      </p:sp>
      <p:sp>
        <p:nvSpPr>
          <p:cNvPr id="18" name="card-322"/>
          <p:cNvSpPr/>
          <p:nvPr/>
        </p:nvSpPr>
        <p:spPr>
          <a:xfrm>
            <a:off x="6126480" y="3429000"/>
            <a:ext cx="2560320" cy="1143000"/>
          </a:xfrm>
          <a:prstGeom prst="roundRect">
            <a:avLst>
              <a:gd name="adj" fmla="val 9600"/>
            </a:avLst>
          </a:prstGeom>
          <a:solidFill>
            <a:srgbClr val="14121F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9" name="text-323"/>
          <p:cNvSpPr txBox="1"/>
          <p:nvPr/>
        </p:nvSpPr>
        <p:spPr>
          <a:xfrm>
            <a:off x="6309360" y="34290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noProof="0" dirty="0">
                <a:solidFill>
                  <a:schemeClr val="bg1"/>
                </a:solidFill>
              </a:rPr>
              <a:t>Манипуляции людьми, финансовые рынки, расход ресурсов</a:t>
            </a:r>
            <a:endParaRPr lang="ru-RU" sz="14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0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27</a:t>
            </a:fld>
            <a:endParaRPr lang="ru-RU" noProof="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C4A617C-9941-084D-5A78-70FCCFF238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600" b="1" noProof="0" dirty="0">
                <a:solidFill>
                  <a:schemeClr val="bg1"/>
                </a:solidFill>
              </a:rPr>
              <a:t>Интеллектуальный взрыв</a:t>
            </a:r>
            <a:endParaRPr lang="ru-RU" sz="3600" noProof="0" dirty="0"/>
          </a:p>
        </p:txBody>
      </p:sp>
      <p:sp>
        <p:nvSpPr>
          <p:cNvPr id="3" name="bar-324"/>
          <p:cNvSpPr/>
          <p:nvPr/>
        </p:nvSpPr>
        <p:spPr>
          <a:xfrm>
            <a:off x="548640" y="3703320"/>
            <a:ext cx="548640" cy="411480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4" name="text-325"/>
          <p:cNvSpPr txBox="1"/>
          <p:nvPr/>
        </p:nvSpPr>
        <p:spPr>
          <a:xfrm>
            <a:off x="548640" y="4206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1200" noProof="0" dirty="0">
                <a:solidFill>
                  <a:schemeClr val="accent6"/>
                </a:solidFill>
              </a:rPr>
              <a:t>v1</a:t>
            </a:r>
            <a:endParaRPr lang="ru-RU" sz="1200" noProof="0" dirty="0"/>
          </a:p>
        </p:txBody>
      </p:sp>
      <p:sp>
        <p:nvSpPr>
          <p:cNvPr id="5" name="bar-326"/>
          <p:cNvSpPr/>
          <p:nvPr/>
        </p:nvSpPr>
        <p:spPr>
          <a:xfrm>
            <a:off x="1325880" y="3429000"/>
            <a:ext cx="548640" cy="685800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6" name="text-327"/>
          <p:cNvSpPr txBox="1"/>
          <p:nvPr/>
        </p:nvSpPr>
        <p:spPr>
          <a:xfrm>
            <a:off x="1325880" y="4206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1200" noProof="0" dirty="0">
                <a:solidFill>
                  <a:schemeClr val="accent6"/>
                </a:solidFill>
              </a:rPr>
              <a:t>v2</a:t>
            </a:r>
            <a:endParaRPr lang="ru-RU" sz="1200" noProof="0" dirty="0"/>
          </a:p>
        </p:txBody>
      </p:sp>
      <p:sp>
        <p:nvSpPr>
          <p:cNvPr id="7" name="bar-328"/>
          <p:cNvSpPr/>
          <p:nvPr/>
        </p:nvSpPr>
        <p:spPr>
          <a:xfrm>
            <a:off x="2103120" y="2971800"/>
            <a:ext cx="548640" cy="1143000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8" name="text-329"/>
          <p:cNvSpPr txBox="1"/>
          <p:nvPr/>
        </p:nvSpPr>
        <p:spPr>
          <a:xfrm>
            <a:off x="2103120" y="4206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1200" noProof="0" dirty="0">
                <a:solidFill>
                  <a:schemeClr val="accent6"/>
                </a:solidFill>
              </a:rPr>
              <a:t>v3</a:t>
            </a:r>
            <a:endParaRPr lang="ru-RU" sz="1200" noProof="0" dirty="0"/>
          </a:p>
        </p:txBody>
      </p:sp>
      <p:sp>
        <p:nvSpPr>
          <p:cNvPr id="9" name="bar-330"/>
          <p:cNvSpPr/>
          <p:nvPr/>
        </p:nvSpPr>
        <p:spPr>
          <a:xfrm>
            <a:off x="2880360" y="2286000"/>
            <a:ext cx="548640" cy="1828800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0" name="text-331"/>
          <p:cNvSpPr txBox="1"/>
          <p:nvPr/>
        </p:nvSpPr>
        <p:spPr>
          <a:xfrm>
            <a:off x="2880360" y="4206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1200" noProof="0" dirty="0">
                <a:solidFill>
                  <a:schemeClr val="accent6"/>
                </a:solidFill>
              </a:rPr>
              <a:t>v4</a:t>
            </a:r>
            <a:endParaRPr lang="ru-RU" sz="1200" noProof="0" dirty="0"/>
          </a:p>
        </p:txBody>
      </p:sp>
      <p:sp>
        <p:nvSpPr>
          <p:cNvPr id="11" name="bar-332"/>
          <p:cNvSpPr/>
          <p:nvPr/>
        </p:nvSpPr>
        <p:spPr>
          <a:xfrm>
            <a:off x="3657600" y="1371600"/>
            <a:ext cx="548640" cy="27432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text-333"/>
          <p:cNvSpPr txBox="1"/>
          <p:nvPr/>
        </p:nvSpPr>
        <p:spPr>
          <a:xfrm>
            <a:off x="3657600" y="4206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1200" noProof="0" dirty="0">
                <a:solidFill>
                  <a:schemeClr val="accent6"/>
                </a:solidFill>
              </a:rPr>
              <a:t>v5</a:t>
            </a:r>
            <a:endParaRPr lang="ru-RU" sz="1200" noProof="0" dirty="0"/>
          </a:p>
        </p:txBody>
      </p:sp>
      <p:sp>
        <p:nvSpPr>
          <p:cNvPr id="13" name="text-334"/>
          <p:cNvSpPr txBox="1"/>
          <p:nvPr/>
        </p:nvSpPr>
        <p:spPr>
          <a:xfrm>
            <a:off x="4754880" y="12801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b="1" noProof="0" dirty="0">
                <a:solidFill>
                  <a:schemeClr val="accent1"/>
                </a:solidFill>
              </a:rPr>
              <a:t>1965 · И. Гуд. </a:t>
            </a:r>
            <a:r>
              <a:rPr lang="ru-RU" sz="1400" noProof="0" dirty="0">
                <a:solidFill>
                  <a:schemeClr val="bg1"/>
                </a:solidFill>
              </a:rPr>
              <a:t>Система, способная улучшать саму себя, создаёт версию умнее, та создаёт следующую, и так по кругу</a:t>
            </a:r>
            <a:endParaRPr lang="ru-RU" sz="1400" noProof="0" dirty="0"/>
          </a:p>
        </p:txBody>
      </p:sp>
      <p:sp>
        <p:nvSpPr>
          <p:cNvPr id="14" name="text-335"/>
          <p:cNvSpPr txBox="1"/>
          <p:nvPr/>
        </p:nvSpPr>
        <p:spPr>
          <a:xfrm>
            <a:off x="4754880" y="24231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b="1" noProof="0" dirty="0">
                <a:solidFill>
                  <a:schemeClr val="accent1"/>
                </a:solidFill>
              </a:rPr>
              <a:t>1993 · В. </a:t>
            </a:r>
            <a:r>
              <a:rPr lang="ru-RU" sz="1400" b="1" noProof="0" dirty="0" err="1">
                <a:solidFill>
                  <a:schemeClr val="accent1"/>
                </a:solidFill>
              </a:rPr>
              <a:t>Виндж</a:t>
            </a:r>
            <a:r>
              <a:rPr lang="ru-RU" sz="1400" b="1" noProof="0" dirty="0">
                <a:solidFill>
                  <a:schemeClr val="accent1"/>
                </a:solidFill>
              </a:rPr>
              <a:t>. </a:t>
            </a:r>
            <a:r>
              <a:rPr lang="ru-RU" sz="1400" noProof="0" dirty="0">
                <a:solidFill>
                  <a:schemeClr val="bg1"/>
                </a:solidFill>
              </a:rPr>
              <a:t>Момент, после которого будущее непредсказуемо: технологическая сингулярность</a:t>
            </a:r>
            <a:endParaRPr lang="ru-RU" sz="1400" noProof="0" dirty="0"/>
          </a:p>
        </p:txBody>
      </p:sp>
      <p:sp>
        <p:nvSpPr>
          <p:cNvPr id="15" name="text-336"/>
          <p:cNvSpPr txBox="1"/>
          <p:nvPr/>
        </p:nvSpPr>
        <p:spPr>
          <a:xfrm>
            <a:off x="4754880" y="34747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2000" b="1" noProof="0" dirty="0">
                <a:solidFill>
                  <a:schemeClr val="accent2"/>
                </a:solidFill>
              </a:rPr>
              <a:t>Хочет ли человечество создать такое существо и на каких условиях?</a:t>
            </a:r>
            <a:endParaRPr lang="ru-RU" sz="20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4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28</a:t>
            </a:fld>
            <a:endParaRPr lang="ru-RU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FD3C65-F576-752A-C827-C39CD8AE92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3600" b="1" noProof="0" dirty="0">
                <a:solidFill>
                  <a:schemeClr val="bg1"/>
                </a:solidFill>
              </a:rPr>
              <a:t>Итоги</a:t>
            </a:r>
            <a:endParaRPr lang="ru-RU" sz="3600" noProof="0" dirty="0"/>
          </a:p>
        </p:txBody>
      </p:sp>
      <p:sp>
        <p:nvSpPr>
          <p:cNvPr id="3" name="card-337"/>
          <p:cNvSpPr/>
          <p:nvPr/>
        </p:nvSpPr>
        <p:spPr>
          <a:xfrm>
            <a:off x="457200" y="123444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2B2A3D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4" name="text-338"/>
          <p:cNvSpPr txBox="1"/>
          <p:nvPr/>
        </p:nvSpPr>
        <p:spPr>
          <a:xfrm>
            <a:off x="640080" y="12344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00" b="1" noProof="0" dirty="0">
                <a:solidFill>
                  <a:schemeClr val="bg1"/>
                </a:solidFill>
              </a:rPr>
              <a:t>ИИ ⊃ МО ⊃ глубокое обучение</a:t>
            </a:r>
            <a:endParaRPr lang="ru-RU" sz="1500" noProof="0" dirty="0"/>
          </a:p>
        </p:txBody>
      </p:sp>
      <p:sp>
        <p:nvSpPr>
          <p:cNvPr id="5" name="card-339"/>
          <p:cNvSpPr/>
          <p:nvPr/>
        </p:nvSpPr>
        <p:spPr>
          <a:xfrm>
            <a:off x="3291840" y="123444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2B2A3D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6" name="text-340"/>
          <p:cNvSpPr txBox="1"/>
          <p:nvPr/>
        </p:nvSpPr>
        <p:spPr>
          <a:xfrm>
            <a:off x="3474720" y="12344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00" b="1" noProof="0" dirty="0">
                <a:solidFill>
                  <a:schemeClr val="bg1"/>
                </a:solidFill>
              </a:rPr>
              <a:t>Модель предсказывает, алгоритм её строит</a:t>
            </a:r>
            <a:endParaRPr lang="ru-RU" sz="1500" noProof="0" dirty="0"/>
          </a:p>
        </p:txBody>
      </p:sp>
      <p:sp>
        <p:nvSpPr>
          <p:cNvPr id="7" name="card-341"/>
          <p:cNvSpPr/>
          <p:nvPr/>
        </p:nvSpPr>
        <p:spPr>
          <a:xfrm>
            <a:off x="6126480" y="123444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2B2A3D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8" name="text-342"/>
          <p:cNvSpPr txBox="1"/>
          <p:nvPr/>
        </p:nvSpPr>
        <p:spPr>
          <a:xfrm>
            <a:off x="6309360" y="12344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00" b="1" noProof="0" dirty="0">
                <a:solidFill>
                  <a:schemeClr val="bg1"/>
                </a:solidFill>
              </a:rPr>
              <a:t>Признаки — то, на что смотрит модель</a:t>
            </a:r>
            <a:endParaRPr lang="ru-RU" sz="1500" noProof="0" dirty="0"/>
          </a:p>
        </p:txBody>
      </p:sp>
      <p:sp>
        <p:nvSpPr>
          <p:cNvPr id="9" name="card-343"/>
          <p:cNvSpPr/>
          <p:nvPr/>
        </p:nvSpPr>
        <p:spPr>
          <a:xfrm>
            <a:off x="457200" y="265176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2B2A3D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0" name="text-344"/>
          <p:cNvSpPr txBox="1"/>
          <p:nvPr/>
        </p:nvSpPr>
        <p:spPr>
          <a:xfrm>
            <a:off x="640080" y="26517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00" b="1" noProof="0" dirty="0">
                <a:solidFill>
                  <a:schemeClr val="bg1"/>
                </a:solidFill>
              </a:rPr>
              <a:t>Датасет — на чём учимся: </a:t>
            </a:r>
            <a:r>
              <a:rPr lang="ru-RU" sz="1500" b="1" noProof="0" dirty="0" err="1">
                <a:solidFill>
                  <a:schemeClr val="bg1"/>
                </a:solidFill>
              </a:rPr>
              <a:t>train</a:t>
            </a:r>
            <a:r>
              <a:rPr lang="ru-RU" sz="1500" b="1" noProof="0" dirty="0">
                <a:solidFill>
                  <a:schemeClr val="bg1"/>
                </a:solidFill>
              </a:rPr>
              <a:t> и </a:t>
            </a:r>
            <a:r>
              <a:rPr lang="ru-RU" sz="1500" b="1" noProof="0" dirty="0" err="1">
                <a:solidFill>
                  <a:schemeClr val="bg1"/>
                </a:solidFill>
              </a:rPr>
              <a:t>test</a:t>
            </a:r>
            <a:endParaRPr lang="ru-RU" sz="1500" noProof="0" dirty="0"/>
          </a:p>
        </p:txBody>
      </p:sp>
      <p:sp>
        <p:nvSpPr>
          <p:cNvPr id="11" name="card-345"/>
          <p:cNvSpPr/>
          <p:nvPr/>
        </p:nvSpPr>
        <p:spPr>
          <a:xfrm>
            <a:off x="3291840" y="265176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2B2A3D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2" name="text-346"/>
          <p:cNvSpPr txBox="1"/>
          <p:nvPr/>
        </p:nvSpPr>
        <p:spPr>
          <a:xfrm>
            <a:off x="3474720" y="26517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00" b="1" noProof="0" dirty="0">
                <a:solidFill>
                  <a:schemeClr val="bg1"/>
                </a:solidFill>
              </a:rPr>
              <a:t>Три типа: с учителем, без учителя, с подкреплением</a:t>
            </a:r>
            <a:endParaRPr lang="ru-RU" sz="1500" noProof="0" dirty="0"/>
          </a:p>
        </p:txBody>
      </p:sp>
      <p:sp>
        <p:nvSpPr>
          <p:cNvPr id="13" name="card-347"/>
          <p:cNvSpPr/>
          <p:nvPr/>
        </p:nvSpPr>
        <p:spPr>
          <a:xfrm>
            <a:off x="6126480" y="265176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2B2A3D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14" name="text-348"/>
          <p:cNvSpPr txBox="1"/>
          <p:nvPr/>
        </p:nvSpPr>
        <p:spPr>
          <a:xfrm>
            <a:off x="6309360" y="26517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00" b="1" noProof="0" dirty="0">
                <a:solidFill>
                  <a:schemeClr val="bg1"/>
                </a:solidFill>
              </a:rPr>
              <a:t>Модель — лишь часть системы ИИ</a:t>
            </a:r>
            <a:endParaRPr lang="ru-RU" sz="1500" noProof="0" dirty="0"/>
          </a:p>
        </p:txBody>
      </p:sp>
      <p:sp>
        <p:nvSpPr>
          <p:cNvPr id="15" name="text-349"/>
          <p:cNvSpPr txBox="1"/>
          <p:nvPr/>
        </p:nvSpPr>
        <p:spPr>
          <a:xfrm>
            <a:off x="457200" y="4114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3200" b="1" noProof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Спасибо! Вопросы?</a:t>
            </a:r>
            <a:endParaRPr lang="ru-RU" sz="3200" noProof="0" dirty="0"/>
          </a:p>
        </p:txBody>
      </p:sp>
      <p:sp>
        <p:nvSpPr>
          <p:cNvPr id="16" name="text-350"/>
          <p:cNvSpPr txBox="1"/>
          <p:nvPr/>
        </p:nvSpPr>
        <p:spPr>
          <a:xfrm>
            <a:off x="5760720" y="4114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1200" noProof="0" dirty="0">
                <a:solidFill>
                  <a:schemeClr val="accent6"/>
                </a:solidFill>
              </a:rPr>
              <a:t>Ноутбук с примерами:</a:t>
            </a:r>
            <a:endParaRPr lang="ru-RU" sz="1200" noProof="0" dirty="0"/>
          </a:p>
          <a:p>
            <a:pPr marL="0" indent="0" algn="r">
              <a:buNone/>
            </a:pPr>
            <a:r>
              <a:rPr lang="ru-RU" sz="1200" noProof="0" dirty="0">
                <a:solidFill>
                  <a:schemeClr val="accent6"/>
                </a:solidFill>
              </a:rPr>
              <a:t>Lection_1_Practice.ipynb</a:t>
            </a:r>
            <a:endParaRPr lang="ru-RU" sz="12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4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29</a:t>
            </a:fld>
            <a:endParaRPr lang="ru-RU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BBF67F5-02C4-B184-B57D-3673E268A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D6BBD-D1FE-97B8-FAF9-D5FA867D4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97D76A06-481F-63DE-AC5E-1CE5D2CF2DAE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noProof="0" dirty="0">
                <a:solidFill>
                  <a:schemeClr val="bg1"/>
                </a:solidFill>
              </a:rPr>
              <a:t>QR</a:t>
            </a:r>
            <a:endParaRPr lang="ru-RU" sz="3600" noProof="0" dirty="0"/>
          </a:p>
        </p:txBody>
      </p:sp>
      <p:sp>
        <p:nvSpPr>
          <p:cNvPr id="11" name="card-345">
            <a:extLst>
              <a:ext uri="{FF2B5EF4-FFF2-40B4-BE49-F238E27FC236}">
                <a16:creationId xmlns:a16="http://schemas.microsoft.com/office/drawing/2014/main" id="{0C2264CA-E8DA-7FBB-9A09-22CE04BF4DA3}"/>
              </a:ext>
            </a:extLst>
          </p:cNvPr>
          <p:cNvSpPr/>
          <p:nvPr/>
        </p:nvSpPr>
        <p:spPr>
          <a:xfrm>
            <a:off x="2999232" y="1017270"/>
            <a:ext cx="3145536" cy="3108960"/>
          </a:xfrm>
          <a:prstGeom prst="roundRect">
            <a:avLst>
              <a:gd name="adj" fmla="val 8889"/>
            </a:avLst>
          </a:prstGeom>
          <a:solidFill>
            <a:srgbClr val="2B2A3D"/>
          </a:solidFill>
          <a:ln/>
        </p:spPr>
        <p:txBody>
          <a:bodyPr/>
          <a:lstStyle/>
          <a:p>
            <a:endParaRPr lang="ru-RU" noProof="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467EE2F-4F51-E203-5451-0B35178C37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4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30</a:t>
            </a:fld>
            <a:endParaRPr lang="ru-RU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3AA1F43-8A55-BB95-1EA3-5672657A59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EF9D8E7-3ECC-AE56-A616-A832DC79CA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2319" y="1122069"/>
            <a:ext cx="2899362" cy="289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0825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9AB4C-810B-C96B-C8E4-2273050EF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96915979-EE71-DD15-EE8B-D9E8019F8423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457200" y="220599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noProof="0" dirty="0"/>
              <a:t>@</a:t>
            </a:r>
            <a:r>
              <a:rPr lang="en-US" sz="3600" noProof="0" dirty="0" err="1"/>
              <a:t>spbpu</a:t>
            </a:r>
            <a:r>
              <a:rPr lang="en-US" dirty="0"/>
              <a:t>_</a:t>
            </a:r>
            <a:r>
              <a:rPr lang="en-US" dirty="0" err="1"/>
              <a:t>sno_bot</a:t>
            </a:r>
            <a:br>
              <a:rPr lang="en-US" dirty="0"/>
            </a:br>
            <a:r>
              <a:rPr lang="ru-RU" dirty="0"/>
              <a:t>код для летучки: 5432</a:t>
            </a:r>
            <a:endParaRPr lang="ru-RU" sz="3600" noProof="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4E47253-D4F7-103C-5727-8651FA79DB2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0B4"/>
                </a:solidFill>
              </a:defRPr>
            </a:lvl1pPr>
          </a:lstStyle>
          <a:p>
            <a:pPr algn="l"/>
            <a:fld id="{F7021451-1387-4CA6-816F-3879F97B5CBC}" type="slidenum">
              <a:rPr lang="ru-RU" b="0" noProof="0" smtClean="0"/>
              <a:t>31</a:t>
            </a:fld>
            <a:endParaRPr lang="ru-RU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C86A181-4B1C-F414-461F-B7ED7A3ADD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82712" y="129303"/>
            <a:ext cx="1032414" cy="103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400965"/>
      </p:ext>
    </p:extLst>
  </p:cSld>
  <p:clrMapOvr>
    <a:masterClrMapping/>
  </p:clrMapOvr>
</p:sld>
</file>

<file path=ppt/theme/theme1.xml><?xml version="1.0" encoding="utf-8"?>
<a:theme xmlns:a="http://schemas.openxmlformats.org/drawingml/2006/main" name="ML Lecture">
  <a:themeElements>
    <a:clrScheme name="ML Lecture">
      <a:dk1>
        <a:srgbClr val="14121F"/>
      </a:dk1>
      <a:lt1>
        <a:srgbClr val="FFFFFF"/>
      </a:lt1>
      <a:dk2>
        <a:srgbClr val="5B6070"/>
      </a:dk2>
      <a:lt2>
        <a:srgbClr val="F1F3F8"/>
      </a:lt2>
      <a:accent1>
        <a:srgbClr val="1FBF8F"/>
      </a:accent1>
      <a:accent2>
        <a:srgbClr val="F5A524"/>
      </a:accent2>
      <a:accent3>
        <a:srgbClr val="7B61FF"/>
      </a:accent3>
      <a:accent4>
        <a:srgbClr val="E5484D"/>
      </a:accent4>
      <a:accent5>
        <a:srgbClr val="2B2A3D"/>
      </a:accent5>
      <a:accent6>
        <a:srgbClr val="9AA0B4"/>
      </a:accent6>
      <a:hlink>
        <a:srgbClr val="7B61FF"/>
      </a:hlink>
      <a:folHlink>
        <a:srgbClr val="9AA0B4"/>
      </a:folHlink>
    </a:clrScheme>
    <a:fontScheme name="ML Lectu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1877</TotalTime>
  <Words>2067</Words>
  <Application>Microsoft Macintosh PowerPoint</Application>
  <PresentationFormat>On-screen Show (16:9)</PresentationFormat>
  <Paragraphs>360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Cambria</vt:lpstr>
      <vt:lpstr>ML Lecture</vt:lpstr>
      <vt:lpstr>Введение в машинное обучение  </vt:lpstr>
      <vt:lpstr>О чём поговорим</vt:lpstr>
      <vt:lpstr>Исследование в Дартмутском колледже</vt:lpstr>
      <vt:lpstr>История ИИ</vt:lpstr>
      <vt:lpstr>Искусственный нейрон</vt:lpstr>
      <vt:lpstr>Тест Тьюринга</vt:lpstr>
      <vt:lpstr>Дартмутская конференция</vt:lpstr>
      <vt:lpstr>Перцептрон</vt:lpstr>
      <vt:lpstr>Две «зимы ИИ»</vt:lpstr>
      <vt:lpstr>Deep Blue против Каспарова</vt:lpstr>
      <vt:lpstr>AlexNet и ImageNet</vt:lpstr>
      <vt:lpstr>От AlphaGo до ChatGPT</vt:lpstr>
      <vt:lpstr>ИИ, МО и глубокое обучение</vt:lpstr>
      <vt:lpstr>Правила или примеры?</vt:lpstr>
      <vt:lpstr>Глубокое обучение</vt:lpstr>
      <vt:lpstr>Как мы принимаем решения</vt:lpstr>
      <vt:lpstr>Модель, алгоритм, признак</vt:lpstr>
      <vt:lpstr>Датасет</vt:lpstr>
      <vt:lpstr>Учебник и экзамен</vt:lpstr>
      <vt:lpstr>Три типа обучения</vt:lpstr>
      <vt:lpstr>Обучение с учителем</vt:lpstr>
      <vt:lpstr>Обучение без учителя</vt:lpstr>
      <vt:lpstr>Обучение с подкреплением</vt:lpstr>
      <vt:lpstr>Системы МО</vt:lpstr>
      <vt:lpstr>Три уровня ИИ</vt:lpstr>
      <vt:lpstr>Почему AGI ещё нет</vt:lpstr>
      <vt:lpstr>Оракул и агент</vt:lpstr>
      <vt:lpstr>Интеллектуальный взрыв</vt:lpstr>
      <vt:lpstr>Итоги</vt:lpstr>
      <vt:lpstr>QR</vt:lpstr>
      <vt:lpstr>@spbpu_sno_bot код для летучки: 5432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1: Введение в машинное обучение</dc:title>
  <dc:subject>PptxGenJS Presentation</dc:subject>
  <dc:creator>Мария Киричек</dc:creator>
  <cp:lastModifiedBy>Maria Kirichek</cp:lastModifiedBy>
  <cp:revision>9</cp:revision>
  <dcterms:created xsi:type="dcterms:W3CDTF">2026-10-10T22:16:13Z</dcterms:created>
  <dcterms:modified xsi:type="dcterms:W3CDTF">2026-10-13T21:26:36Z</dcterms:modified>
</cp:coreProperties>
</file>